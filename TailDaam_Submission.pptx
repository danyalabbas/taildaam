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Hack Insight 2026" id="{d27e10ab-bb75-0403-50be-a673a1996899}">
          <p14:sldIdLst>
            <p14:sldId id="256"/>
            <p14:sldId id="257"/>
            <p14:sldId id="258"/>
            <p14:sldId id="259"/>
            <p14:sldId id="260"/>
            <p14:sldId id="261"/>
            <p14:sldId id="262"/>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bg1"/>
        </a:solidFill>
      </p:bgPr>
    </p:bg>
    <p:spTree>
      <p:nvGrpSpPr>
        <p:cNvPr id="1" name=""/>
        <p:cNvGrpSpPr/>
        <p:nvPr/>
      </p:nvGrpSpPr>
      <p:grpSpPr>
        <a:xfrm>
          <a:off x="0" y="0"/>
          <a:ext cx="0" cy="0"/>
          <a:chOff x="0" y="0"/>
          <a:chExt cx="0" cy="0"/>
        </a:xfrm>
      </p:grpSpPr>
      <p:pic>
        <p:nvPicPr>
          <p:cNvPr id="2" name="Image 0" descr="/mnt/user-data/uploads/Hack_Insight_2026_Tech_Banner__1_.png">    </p:cNvPr>
          <p:cNvPicPr>
            <a:picLocks noChangeAspect="1"/>
          </p:cNvPicPr>
          <p:nvPr/>
        </p:nvPicPr>
        <p:blipFill>
          <a:blip r:embed="rId1"/>
          <a:stretch>
            <a:fillRect/>
          </a:stretch>
        </p:blipFill>
        <p:spPr>
          <a:xfrm>
            <a:off x="0" y="0"/>
            <a:ext cx="9144000" cy="3712464"/>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txBox="1"/>
          <p:nvPr/>
        </p:nvSpPr>
        <p:spPr>
          <a:xfrm>
            <a:off x="457200" y="4754880"/>
            <a:ext cx="6400800" cy="228600"/>
          </a:xfrm>
          <a:prstGeom prst="rect">
            <a:avLst/>
          </a:prstGeom>
          <a:noFill/>
          <a:ln/>
        </p:spPr>
        <p:txBody>
          <a:bodyPr wrap="square" lIns="0" tIns="0" rIns="0" bIns="0" rtlCol="0" anchor="ctr"/>
          <a:lstStyle/>
          <a:p>
            <a:pPr indent="0" marL="0">
              <a:buNone/>
            </a:pPr>
            <a:r>
              <a:rPr lang="en-US" sz="1000" dirty="0">
                <a:solidFill>
                  <a:schemeClr val="accent6"/>
                </a:solidFill>
              </a:rPr>
              <a:t>HACK INSIGHT 2026  |  NED University of Engineering &amp; Technology</a:t>
            </a:r>
            <a:endParaRPr lang="en-US" sz="1000" dirty="0"/>
          </a:p>
        </p:txBody>
      </p:sp>
      <p:sp>
        <p:nvSpPr>
          <p:cNvPr id="25" name="Slide Number Placeholder 0"/>
          <p:cNvSpPr>
            <a:spLocks noGrp="1"/>
          </p:cNvSpPr>
          <p:nvPr>
            <p:ph type="sldNum" sz="quarter" idx="4294967295"/>
          </p:nvPr>
        </p:nvSpPr>
        <p:spPr>
          <a:xfrm>
            <a:off x="7772400" y="4754880"/>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txBox="1"/>
          <p:nvPr/>
        </p:nvSpPr>
        <p:spPr>
          <a:xfrm>
            <a:off x="457200" y="4754880"/>
            <a:ext cx="6400800" cy="228600"/>
          </a:xfrm>
          <a:prstGeom prst="rect">
            <a:avLst/>
          </a:prstGeom>
          <a:noFill/>
          <a:ln/>
        </p:spPr>
        <p:txBody>
          <a:bodyPr wrap="square" lIns="0" tIns="0" rIns="0" bIns="0" rtlCol="0" anchor="ctr"/>
          <a:lstStyle/>
          <a:p>
            <a:pPr indent="0" marL="0">
              <a:buNone/>
            </a:pPr>
            <a:r>
              <a:rPr lang="en-US" sz="1000" dirty="0">
                <a:solidFill>
                  <a:schemeClr val="accent4"/>
                </a:solidFill>
              </a:rPr>
              <a:t>HACK INSIGHT 2026  |  NED University of Engineering &amp; Technology</a:t>
            </a:r>
            <a:endParaRPr lang="en-US" sz="1000" dirty="0"/>
          </a:p>
        </p:txBody>
      </p:sp>
      <p:sp>
        <p:nvSpPr>
          <p:cNvPr id="25" name="Slide Number Placeholder 0"/>
          <p:cNvSpPr>
            <a:spLocks noGrp="1"/>
          </p:cNvSpPr>
          <p:nvPr>
            <p:ph type="sldNum" sz="quarter" idx="4294967295"/>
          </p:nvPr>
        </p:nvSpPr>
        <p:spPr>
          <a:xfrm>
            <a:off x="7772400" y="4754880"/>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VER2">
    <p:bg>
      <p:bgPr>
        <a:solidFill>
          <a:schemeClr val="bg1"/>
        </a:solidFill>
      </p:bgPr>
    </p:bg>
    <p:spTree>
      <p:nvGrpSpPr>
        <p:cNvPr id="1" name=""/>
        <p:cNvGrpSpPr/>
        <p:nvPr/>
      </p:nvGrpSpPr>
      <p:grpSpPr>
        <a:xfrm>
          <a:off x="0" y="0"/>
          <a:ext cx="0" cy="0"/>
          <a:chOff x="0" y="0"/>
          <a:chExt cx="0" cy="0"/>
        </a:xfrm>
      </p:grpSpPr>
      <p:pic>
        <p:nvPicPr>
          <p:cNvPr id="2" name="Image 0" descr="/mnt/user-data/uploads/Hack_Insight_2026_Tech_Banner__1_.png">    </p:cNvPr>
          <p:cNvPicPr>
            <a:picLocks noChangeAspect="1"/>
          </p:cNvPicPr>
          <p:nvPr/>
        </p:nvPicPr>
        <p:blipFill>
          <a:blip r:embed="rId1"/>
          <a:stretch>
            <a:fillRect/>
          </a:stretch>
        </p:blipFill>
        <p:spPr>
          <a:xfrm>
            <a:off x="0" y="0"/>
            <a:ext cx="9144000" cy="3712464"/>
          </a:xfrm>
          <a:prstGeom prst="rect">
            <a:avLst/>
          </a:prstGeom>
        </p:spPr>
      </p:pic>
      <p:sp>
        <p:nvSpPr>
          <p:cNvPr id="3" name="Text 0"/>
          <p:cNvSpPr/>
          <p:nvPr>
            <p:ph idx="101" type="title" hasCustomPrompt="1"/>
          </p:nvPr>
        </p:nvSpPr>
        <p:spPr>
          <a:xfrm>
            <a:off x="457200" y="3840480"/>
            <a:ext cx="8229600" cy="59436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4" name="Text 0"/>
          <p:cNvSpPr/>
          <p:nvPr>
            <p:ph idx="102" type="body" hasCustomPrompt="1"/>
          </p:nvPr>
        </p:nvSpPr>
        <p:spPr>
          <a:xfrm>
            <a:off x="457200" y="4480560"/>
            <a:ext cx="8229600" cy="411480"/>
          </a:xfrm>
          <a:prstGeom prst="rect">
            <a:avLst/>
          </a:prstGeom>
          <a:noFill/>
          <a:ln/>
        </p:spPr>
        <p:txBody>
          <a:bodyPr wrap="square" rtlCol="0"/>
          <a:lstStyle>
            <a:lvl1pPr algn="l" indent="0" marL="0">
              <a:buNone/>
              <a:defRPr lang="en-US" sz="1600" dirty="0">
                <a:solidFill>
                  <a:schemeClr val="tx1"/>
                </a:solidFill>
              </a:defRPr>
            </a:lvl1pPr>
          </a:lstStyle>
          <a:p>
            <a:pPr algn="l"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772400" y="4754880"/>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shot-overview.png"/><Relationship Id="rId4" Type="http://schemas.openxmlformats.org/officeDocument/2006/relationships/image" Target="../media/shot-model.png"/><Relationship Id="rId5" Type="http://schemas.openxmlformats.org/officeDocument/2006/relationships/image" Target="../media/shot-agent.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457200" y="3840480"/>
            <a:ext cx="8229600" cy="594360"/>
          </a:xfrm>
          <a:prstGeom prst="rect">
            <a:avLst/>
          </a:prstGeom>
          <a:noFill/>
          <a:ln/>
        </p:spPr>
        <p:txBody>
          <a:bodyPr wrap="square" lIns="0" tIns="0" rIns="0" bIns="0" rtlCol="0" anchor="ctr"/>
          <a:lstStyle/>
          <a:p>
            <a:pPr algn="l" indent="0" marL="0">
              <a:buNone/>
            </a:pPr>
            <a:r>
              <a:rPr lang="en-US" sz="3000" b="1" dirty="0">
                <a:solidFill>
                  <a:schemeClr val="tx2"/>
                </a:solidFill>
              </a:rPr>
              <a:t>TailDaam: Fuel Prices, With Receipts</a:t>
            </a:r>
            <a:endParaRPr lang="en-US" sz="3000" dirty="0"/>
          </a:p>
        </p:txBody>
      </p:sp>
      <p:sp>
        <p:nvSpPr>
          <p:cNvPr id="3" name="Text 0"/>
          <p:cNvSpPr/>
          <p:nvPr>
            <p:ph idx="102" type="body" hasCustomPrompt="1"/>
          </p:nvPr>
        </p:nvSpPr>
        <p:spPr>
          <a:xfrm>
            <a:off x="457200" y="4480560"/>
            <a:ext cx="8229600" cy="411480"/>
          </a:xfrm>
          <a:prstGeom prst="rect">
            <a:avLst/>
          </a:prstGeom>
          <a:noFill/>
          <a:ln/>
        </p:spPr>
        <p:txBody>
          <a:bodyPr wrap="square" lIns="0" tIns="0" rIns="0" bIns="0" rtlCol="0" anchor="ctr"/>
          <a:lstStyle/>
          <a:p>
            <a:pPr algn="l" indent="0" marL="0">
              <a:buNone/>
            </a:pPr>
            <a:r>
              <a:rPr lang="en-US" sz="1600" dirty="0">
                <a:solidFill>
                  <a:schemeClr val="tx1"/>
                </a:solidFill>
              </a:rPr>
              <a:t>Danyal Abbas (solo)  |  Track: Energy demand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2"/>
                </a:solidFill>
              </a:rPr>
              <a:t>Problem Statement</a:t>
            </a:r>
            <a:endParaRPr lang="en-US" sz="3200" dirty="0"/>
          </a:p>
        </p:txBody>
      </p:sp>
      <p:sp>
        <p:nvSpPr>
          <p:cNvPr id="3" name="Problem card"/>
          <p:cNvSpPr/>
          <p:nvPr/>
        </p:nvSpPr>
        <p:spPr>
          <a:xfrm>
            <a:off x="457200" y="1188720"/>
            <a:ext cx="4937760" cy="3291840"/>
          </a:xfrm>
          <a:prstGeom prst="roundRect">
            <a:avLst>
              <a:gd name="adj" fmla="val 2778"/>
            </a:avLst>
          </a:prstGeom>
          <a:solidFill>
            <a:schemeClr val="bg2"/>
          </a:solidFill>
          <a:ln/>
        </p:spPr>
      </p:sp>
      <p:sp>
        <p:nvSpPr>
          <p:cNvPr id="4" name="Text 2"/>
          <p:cNvSpPr txBox="1"/>
          <p:nvPr/>
        </p:nvSpPr>
        <p:spPr>
          <a:xfrm>
            <a:off x="731520" y="1417320"/>
            <a:ext cx="4389120" cy="274320"/>
          </a:xfrm>
          <a:prstGeom prst="rect">
            <a:avLst/>
          </a:prstGeom>
          <a:noFill/>
          <a:ln/>
        </p:spPr>
        <p:txBody>
          <a:bodyPr wrap="square" lIns="0" tIns="0" rIns="0" bIns="0" rtlCol="0" anchor="ctr"/>
          <a:lstStyle/>
          <a:p>
            <a:pPr indent="0" marL="0">
              <a:buNone/>
            </a:pPr>
            <a:r>
              <a:rPr lang="en-US" sz="1200" b="1" dirty="0">
                <a:solidFill>
                  <a:schemeClr val="accent1"/>
                </a:solidFill>
              </a:rPr>
              <a:t>THE PROBLEM</a:t>
            </a:r>
            <a:endParaRPr lang="en-US" sz="1200" dirty="0"/>
          </a:p>
        </p:txBody>
      </p:sp>
      <p:sp>
        <p:nvSpPr>
          <p:cNvPr id="5" name="Text 3"/>
          <p:cNvSpPr txBox="1"/>
          <p:nvPr/>
        </p:nvSpPr>
        <p:spPr>
          <a:xfrm>
            <a:off x="731520" y="1783080"/>
            <a:ext cx="4389120" cy="2468880"/>
          </a:xfrm>
          <a:prstGeom prst="rect">
            <a:avLst/>
          </a:prstGeom>
          <a:noFill/>
          <a:ln/>
        </p:spPr>
        <p:txBody>
          <a:bodyPr wrap="square" lIns="0" tIns="0" rIns="0" bIns="0" rtlCol="0" anchor="t"/>
          <a:lstStyle/>
          <a:p>
            <a:pPr indent="0" marL="0">
              <a:buNone/>
            </a:pPr>
            <a:r>
              <a:rPr lang="en-US" sz="1800" dirty="0">
                <a:solidFill>
                  <a:schemeClr val="tx1"/>
                </a:solidFill>
              </a:rPr>
              <a:t>OGRA resets petrol and diesel prices every fortnight, yet the evidence is scattered across PBS reports, city tables and global feeds. Claims about why prices moved are hard to verify, and nothing says “the data cannot answer that.”</a:t>
            </a:r>
            <a:endParaRPr lang="en-US" sz="1800" dirty="0"/>
          </a:p>
        </p:txBody>
      </p:sp>
      <p:sp>
        <p:nvSpPr>
          <p:cNvPr id="6" name="Side card 1"/>
          <p:cNvSpPr/>
          <p:nvPr/>
        </p:nvSpPr>
        <p:spPr>
          <a:xfrm>
            <a:off x="5669280" y="1188720"/>
            <a:ext cx="3017520" cy="1005840"/>
          </a:xfrm>
          <a:prstGeom prst="roundRect">
            <a:avLst>
              <a:gd name="adj" fmla="val 9091"/>
            </a:avLst>
          </a:prstGeom>
          <a:solidFill>
            <a:schemeClr val="bg2"/>
          </a:solidFill>
          <a:ln/>
        </p:spPr>
      </p:sp>
      <p:sp>
        <p:nvSpPr>
          <p:cNvPr id="7" name="Number 1"/>
          <p:cNvSpPr txBox="1"/>
          <p:nvPr/>
        </p:nvSpPr>
        <p:spPr>
          <a:xfrm>
            <a:off x="5852160" y="1508760"/>
            <a:ext cx="365760" cy="36576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8" name="Text 6"/>
          <p:cNvSpPr txBox="1"/>
          <p:nvPr/>
        </p:nvSpPr>
        <p:spPr>
          <a:xfrm>
            <a:off x="6355080" y="1417320"/>
            <a:ext cx="2194560" cy="274320"/>
          </a:xfrm>
          <a:prstGeom prst="rect">
            <a:avLst/>
          </a:prstGeom>
          <a:noFill/>
          <a:ln/>
        </p:spPr>
        <p:txBody>
          <a:bodyPr wrap="square" lIns="0" tIns="0" rIns="0" bIns="0" rtlCol="0" anchor="ctr"/>
          <a:lstStyle/>
          <a:p>
            <a:pPr indent="0" marL="0">
              <a:buNone/>
            </a:pPr>
            <a:r>
              <a:rPr lang="en-US" sz="1400" b="1" dirty="0">
                <a:solidFill>
                  <a:schemeClr val="tx1"/>
                </a:solidFill>
              </a:rPr>
              <a:t>Who is affected?</a:t>
            </a:r>
            <a:endParaRPr lang="en-US" sz="1400" dirty="0"/>
          </a:p>
        </p:txBody>
      </p:sp>
      <p:sp>
        <p:nvSpPr>
          <p:cNvPr id="9" name="Text 7"/>
          <p:cNvSpPr txBox="1"/>
          <p:nvPr/>
        </p:nvSpPr>
        <p:spPr>
          <a:xfrm>
            <a:off x="6355080" y="1719072"/>
            <a:ext cx="2194560" cy="274320"/>
          </a:xfrm>
          <a:prstGeom prst="rect">
            <a:avLst/>
          </a:prstGeom>
          <a:noFill/>
          <a:ln/>
        </p:spPr>
        <p:txBody>
          <a:bodyPr wrap="square" lIns="0" tIns="0" rIns="0" bIns="0" rtlCol="0" anchor="ctr"/>
          <a:lstStyle/>
          <a:p>
            <a:pPr indent="0" marL="0">
              <a:buNone/>
            </a:pPr>
            <a:r>
              <a:rPr lang="en-US" sz="1200" dirty="0">
                <a:solidFill>
                  <a:schemeClr val="accent6"/>
                </a:solidFill>
              </a:rPr>
              <a:t>Households, transporters, small businesses</a:t>
            </a:r>
            <a:endParaRPr lang="en-US" sz="1200" dirty="0"/>
          </a:p>
        </p:txBody>
      </p:sp>
      <p:sp>
        <p:nvSpPr>
          <p:cNvPr id="10" name="Side card 2"/>
          <p:cNvSpPr/>
          <p:nvPr/>
        </p:nvSpPr>
        <p:spPr>
          <a:xfrm>
            <a:off x="5669280" y="2331720"/>
            <a:ext cx="3017520" cy="1005840"/>
          </a:xfrm>
          <a:prstGeom prst="roundRect">
            <a:avLst>
              <a:gd name="adj" fmla="val 9091"/>
            </a:avLst>
          </a:prstGeom>
          <a:solidFill>
            <a:schemeClr val="bg2"/>
          </a:solidFill>
          <a:ln/>
        </p:spPr>
      </p:sp>
      <p:sp>
        <p:nvSpPr>
          <p:cNvPr id="11" name="Number 2"/>
          <p:cNvSpPr txBox="1"/>
          <p:nvPr/>
        </p:nvSpPr>
        <p:spPr>
          <a:xfrm>
            <a:off x="5852160" y="2651760"/>
            <a:ext cx="365760" cy="36576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Text 10"/>
          <p:cNvSpPr txBox="1"/>
          <p:nvPr/>
        </p:nvSpPr>
        <p:spPr>
          <a:xfrm>
            <a:off x="6355080" y="2560320"/>
            <a:ext cx="2194560" cy="274320"/>
          </a:xfrm>
          <a:prstGeom prst="rect">
            <a:avLst/>
          </a:prstGeom>
          <a:noFill/>
          <a:ln/>
        </p:spPr>
        <p:txBody>
          <a:bodyPr wrap="square" lIns="0" tIns="0" rIns="0" bIns="0" rtlCol="0" anchor="ctr"/>
          <a:lstStyle/>
          <a:p>
            <a:pPr indent="0" marL="0">
              <a:buNone/>
            </a:pPr>
            <a:r>
              <a:rPr lang="en-US" sz="1400" b="1" dirty="0">
                <a:solidFill>
                  <a:schemeClr val="tx1"/>
                </a:solidFill>
              </a:rPr>
              <a:t>Why does it matter?</a:t>
            </a:r>
            <a:endParaRPr lang="en-US" sz="1400" dirty="0"/>
          </a:p>
        </p:txBody>
      </p:sp>
      <p:sp>
        <p:nvSpPr>
          <p:cNvPr id="13" name="Text 11"/>
          <p:cNvSpPr txBox="1"/>
          <p:nvPr/>
        </p:nvSpPr>
        <p:spPr>
          <a:xfrm>
            <a:off x="6355080" y="2862072"/>
            <a:ext cx="2194560" cy="274320"/>
          </a:xfrm>
          <a:prstGeom prst="rect">
            <a:avLst/>
          </a:prstGeom>
          <a:noFill/>
          <a:ln/>
        </p:spPr>
        <p:txBody>
          <a:bodyPr wrap="square" lIns="0" tIns="0" rIns="0" bIns="0" rtlCol="0" anchor="ctr"/>
          <a:lstStyle/>
          <a:p>
            <a:pPr indent="0" marL="0">
              <a:buNone/>
            </a:pPr>
            <a:r>
              <a:rPr lang="en-US" sz="1200" dirty="0">
                <a:solidFill>
                  <a:schemeClr val="accent6"/>
                </a:solidFill>
              </a:rPr>
              <a:t>Pakistan's most politically sensitive price</a:t>
            </a:r>
            <a:endParaRPr lang="en-US" sz="1200" dirty="0"/>
          </a:p>
        </p:txBody>
      </p:sp>
      <p:sp>
        <p:nvSpPr>
          <p:cNvPr id="14" name="Side card 3"/>
          <p:cNvSpPr/>
          <p:nvPr/>
        </p:nvSpPr>
        <p:spPr>
          <a:xfrm>
            <a:off x="5669280" y="3474720"/>
            <a:ext cx="3017520" cy="1005840"/>
          </a:xfrm>
          <a:prstGeom prst="roundRect">
            <a:avLst>
              <a:gd name="adj" fmla="val 9091"/>
            </a:avLst>
          </a:prstGeom>
          <a:solidFill>
            <a:schemeClr val="bg2"/>
          </a:solidFill>
          <a:ln/>
        </p:spPr>
      </p:sp>
      <p:sp>
        <p:nvSpPr>
          <p:cNvPr id="15" name="Number 3"/>
          <p:cNvSpPr txBox="1"/>
          <p:nvPr/>
        </p:nvSpPr>
        <p:spPr>
          <a:xfrm>
            <a:off x="5852160" y="3794760"/>
            <a:ext cx="365760" cy="36576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Text 14"/>
          <p:cNvSpPr txBox="1"/>
          <p:nvPr/>
        </p:nvSpPr>
        <p:spPr>
          <a:xfrm>
            <a:off x="6355080" y="3703320"/>
            <a:ext cx="2194560" cy="274320"/>
          </a:xfrm>
          <a:prstGeom prst="rect">
            <a:avLst/>
          </a:prstGeom>
          <a:noFill/>
          <a:ln/>
        </p:spPr>
        <p:txBody>
          <a:bodyPr wrap="square" lIns="0" tIns="0" rIns="0" bIns="0" rtlCol="0" anchor="ctr"/>
          <a:lstStyle/>
          <a:p>
            <a:pPr indent="0" marL="0">
              <a:buNone/>
            </a:pPr>
            <a:r>
              <a:rPr lang="en-US" sz="1400" b="1" dirty="0">
                <a:solidFill>
                  <a:schemeClr val="tx1"/>
                </a:solidFill>
              </a:rPr>
              <a:t>Our goal</a:t>
            </a:r>
            <a:endParaRPr lang="en-US" sz="1400" dirty="0"/>
          </a:p>
        </p:txBody>
      </p:sp>
      <p:sp>
        <p:nvSpPr>
          <p:cNvPr id="17" name="Text 15"/>
          <p:cNvSpPr txBox="1"/>
          <p:nvPr/>
        </p:nvSpPr>
        <p:spPr>
          <a:xfrm>
            <a:off x="6355080" y="4005072"/>
            <a:ext cx="2194560" cy="274320"/>
          </a:xfrm>
          <a:prstGeom prst="rect">
            <a:avLst/>
          </a:prstGeom>
          <a:noFill/>
          <a:ln/>
        </p:spPr>
        <p:txBody>
          <a:bodyPr wrap="square" lIns="0" tIns="0" rIns="0" bIns="0" rtlCol="0" anchor="ctr"/>
          <a:lstStyle/>
          <a:p>
            <a:pPr indent="0" marL="0">
              <a:buNone/>
            </a:pPr>
            <a:r>
              <a:rPr lang="en-US" sz="1200" dirty="0">
                <a:solidFill>
                  <a:schemeClr val="accent6"/>
                </a:solidFill>
              </a:rPr>
              <a:t>Cited answers, or an honest refusal</a:t>
            </a:r>
            <a:endParaRPr lang="en-US" sz="1200" dirty="0"/>
          </a:p>
        </p:txBody>
      </p:sp>
      <p:sp>
        <p:nvSpPr>
          <p:cNvPr id="25" name="Slide Number Placeholder 0"/>
          <p:cNvSpPr>
            <a:spLocks noGrp="1"/>
          </p:cNvSpPr>
          <p:nvPr>
            <p:ph type="sldNum" sz="quarter" idx="4294967295"/>
          </p:nvPr>
        </p:nvSpPr>
        <p:spPr>
          <a:xfrm>
            <a:off x="7772400" y="4754880"/>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2"/>
                </a:solidFill>
              </a:rPr>
              <a:t>Dataset Declaration</a:t>
            </a:r>
            <a:endParaRPr lang="en-US" sz="3200" dirty="0"/>
          </a:p>
        </p:txBody>
      </p:sp>
      <p:graphicFrame>
        <p:nvGraphicFramePr>
          <p:cNvPr id="4" name="Dataset table"/>
          <p:cNvGraphicFramePr>
            <a:graphicFrameLocks noGrp="1"/>
          </p:cNvGraphicFramePr>
          <p:nvPr>
            <p:extLst>
              <p:ext uri="{D42A27DB-BD31-4B8C-83A1-F6EECF244321}">
                <p14:modId xmlns:p14="http://schemas.microsoft.com/office/powerpoint/2010/main" val="1579011935"/>
              </p:ext>
            </p:extLst>
          </p:nvPr>
        </p:nvGraphicFramePr>
        <p:xfrm>
          <a:off x="457200" y="1188720"/>
          <a:ext cx="5486400" cy="914400"/>
        </p:xfrm>
        <a:graphic>
          <a:graphicData uri="http://schemas.openxmlformats.org/drawingml/2006/table">
            <a:tbl>
              <a:tblPr/>
              <a:tblGrid>
                <a:gridCol w="1828800"/>
                <a:gridCol w="3657600"/>
              </a:tblGrid>
              <a:tr h="530352">
                <a:tc>
                  <a:txBody>
                    <a:bodyPr/>
                    <a:lstStyle/>
                    <a:p>
                      <a:pPr indent="0" marL="0">
                        <a:buNone/>
                      </a:pPr>
                      <a:r>
                        <a:rPr lang="en-US" sz="1400" b="1" dirty="0">
                          <a:solidFill>
                            <a:schemeClr val="tx2"/>
                          </a:solidFill>
                        </a:rPr>
                        <a:t>Dataset name</a:t>
                      </a:r>
                      <a:endParaRPr lang="en-US" sz="1400" dirty="0"/>
                    </a:p>
                  </a:txBody>
                  <a:tcPr marL="109728" marR="109728" marT="0" marB="0" anchor="ctr">
                    <a:lnL w="12700" cap="flat" cmpd="sng" algn="ctr">
                      <a:solidFill>
                        <a:srgbClr val="D5E3DA"/>
                      </a:solidFill>
                      <a:prstDash val="solid"/>
                      <a:round/>
                      <a:headEnd type="none" w="med" len="med"/>
                      <a:tailEnd type="none" w="med" len="med"/>
                    </a:lnL>
                    <a:lnR w="12700" cap="flat" cmpd="sng" algn="ctr">
                      <a:solidFill>
                        <a:srgbClr val="D5E3DA"/>
                      </a:solidFill>
                      <a:prstDash val="solid"/>
                      <a:round/>
                      <a:headEnd type="none" w="med" len="med"/>
                      <a:tailEnd type="none" w="med" len="med"/>
                    </a:lnR>
                    <a:lnT w="12700" cap="flat" cmpd="sng" algn="ctr">
                      <a:solidFill>
                        <a:srgbClr val="D5E3DA"/>
                      </a:solidFill>
                      <a:prstDash val="solid"/>
                      <a:round/>
                      <a:headEnd type="none" w="med" len="med"/>
                      <a:tailEnd type="none" w="med" len="med"/>
                    </a:lnT>
                    <a:lnB w="12700" cap="flat" cmpd="sng" algn="ctr">
                      <a:solidFill>
                        <a:srgbClr val="D5E3DA"/>
                      </a:solidFill>
                      <a:prstDash val="solid"/>
                      <a:round/>
                      <a:headEnd type="none" w="med" len="med"/>
                      <a:tailEnd type="none" w="med" len="med"/>
                    </a:lnB>
                    <a:solidFill>
                      <a:schemeClr val="bg2"/>
                    </a:solidFill>
                  </a:tcPr>
                </a:tc>
                <a:tc>
                  <a:txBody>
                    <a:bodyPr/>
                    <a:lstStyle/>
                    <a:p>
                      <a:pPr indent="0" marL="0">
                        <a:buNone/>
                      </a:pPr>
                      <a:r>
                        <a:rPr lang="en-US" sz="1200" dirty="0">
                          <a:solidFill>
                            <a:schemeClr val="accent6"/>
                          </a:solidFill>
                        </a:rPr>
                        <a:t>TailDaam gold layer (PBS + EIA + World Bank)</a:t>
                      </a:r>
                      <a:endParaRPr lang="en-US" sz="1200" dirty="0"/>
                    </a:p>
                  </a:txBody>
                  <a:tcPr marL="109728" marR="109728" marT="0" marB="0" anchor="ctr">
                    <a:lnL w="12700" cap="flat" cmpd="sng" algn="ctr">
                      <a:solidFill>
                        <a:srgbClr val="D5E3DA"/>
                      </a:solidFill>
                      <a:prstDash val="solid"/>
                      <a:round/>
                      <a:headEnd type="none" w="med" len="med"/>
                      <a:tailEnd type="none" w="med" len="med"/>
                    </a:lnL>
                    <a:lnR w="12700" cap="flat" cmpd="sng" algn="ctr">
                      <a:solidFill>
                        <a:srgbClr val="D5E3DA"/>
                      </a:solidFill>
                      <a:prstDash val="solid"/>
                      <a:round/>
                      <a:headEnd type="none" w="med" len="med"/>
                      <a:tailEnd type="none" w="med" len="med"/>
                    </a:lnR>
                    <a:lnT w="12700" cap="flat" cmpd="sng" algn="ctr">
                      <a:solidFill>
                        <a:srgbClr val="D5E3DA"/>
                      </a:solidFill>
                      <a:prstDash val="solid"/>
                      <a:round/>
                      <a:headEnd type="none" w="med" len="med"/>
                      <a:tailEnd type="none" w="med" len="med"/>
                    </a:lnT>
                    <a:lnB w="12700" cap="flat" cmpd="sng" algn="ctr">
                      <a:solidFill>
                        <a:srgbClr val="D5E3DA"/>
                      </a:solidFill>
                      <a:prstDash val="solid"/>
                      <a:round/>
                      <a:headEnd type="none" w="med" len="med"/>
                      <a:tailEnd type="none" w="med" len="med"/>
                    </a:lnB>
                  </a:tcPr>
                </a:tc>
              </a:tr>
              <a:tr h="530352">
                <a:tc>
                  <a:txBody>
                    <a:bodyPr/>
                    <a:lstStyle/>
                    <a:p>
                      <a:pPr indent="0" marL="0">
                        <a:buNone/>
                      </a:pPr>
                      <a:r>
                        <a:rPr lang="en-US" sz="1400" b="1" dirty="0">
                          <a:solidFill>
                            <a:schemeClr val="tx2"/>
                          </a:solidFill>
                        </a:rPr>
                        <a:t>Source / link</a:t>
                      </a:r>
                      <a:endParaRPr lang="en-US" sz="1400" dirty="0"/>
                    </a:p>
                  </a:txBody>
                  <a:tcPr marL="109728" marR="109728" marT="0" marB="0" anchor="ctr">
                    <a:lnL w="12700" cap="flat" cmpd="sng" algn="ctr">
                      <a:solidFill>
                        <a:srgbClr val="D5E3DA"/>
                      </a:solidFill>
                      <a:prstDash val="solid"/>
                      <a:round/>
                      <a:headEnd type="none" w="med" len="med"/>
                      <a:tailEnd type="none" w="med" len="med"/>
                    </a:lnL>
                    <a:lnR w="12700" cap="flat" cmpd="sng" algn="ctr">
                      <a:solidFill>
                        <a:srgbClr val="D5E3DA"/>
                      </a:solidFill>
                      <a:prstDash val="solid"/>
                      <a:round/>
                      <a:headEnd type="none" w="med" len="med"/>
                      <a:tailEnd type="none" w="med" len="med"/>
                    </a:lnR>
                    <a:lnT w="12700" cap="flat" cmpd="sng" algn="ctr">
                      <a:solidFill>
                        <a:srgbClr val="D5E3DA"/>
                      </a:solidFill>
                      <a:prstDash val="solid"/>
                      <a:round/>
                      <a:headEnd type="none" w="med" len="med"/>
                      <a:tailEnd type="none" w="med" len="med"/>
                    </a:lnT>
                    <a:lnB w="12700" cap="flat" cmpd="sng" algn="ctr">
                      <a:solidFill>
                        <a:srgbClr val="D5E3DA"/>
                      </a:solidFill>
                      <a:prstDash val="solid"/>
                      <a:round/>
                      <a:headEnd type="none" w="med" len="med"/>
                      <a:tailEnd type="none" w="med" len="med"/>
                    </a:lnB>
                    <a:solidFill>
                      <a:schemeClr val="bg2"/>
                    </a:solidFill>
                  </a:tcPr>
                </a:tc>
                <a:tc>
                  <a:txBody>
                    <a:bodyPr/>
                    <a:lstStyle/>
                    <a:p>
                      <a:pPr indent="0" marL="0">
                        <a:buNone/>
                      </a:pPr>
                      <a:r>
                        <a:rPr lang="en-US" sz="1200" dirty="0">
                          <a:solidFill>
                            <a:schemeClr val="accent6"/>
                          </a:solidFill>
                        </a:rPr>
                        <a:t>PBS, EIA, World Bank (original publishers)</a:t>
                      </a:r>
                      <a:endParaRPr lang="en-US" sz="1200" dirty="0"/>
                    </a:p>
                  </a:txBody>
                  <a:tcPr marL="109728" marR="109728" marT="0" marB="0" anchor="ctr">
                    <a:lnL w="12700" cap="flat" cmpd="sng" algn="ctr">
                      <a:solidFill>
                        <a:srgbClr val="D5E3DA"/>
                      </a:solidFill>
                      <a:prstDash val="solid"/>
                      <a:round/>
                      <a:headEnd type="none" w="med" len="med"/>
                      <a:tailEnd type="none" w="med" len="med"/>
                    </a:lnL>
                    <a:lnR w="12700" cap="flat" cmpd="sng" algn="ctr">
                      <a:solidFill>
                        <a:srgbClr val="D5E3DA"/>
                      </a:solidFill>
                      <a:prstDash val="solid"/>
                      <a:round/>
                      <a:headEnd type="none" w="med" len="med"/>
                      <a:tailEnd type="none" w="med" len="med"/>
                    </a:lnR>
                    <a:lnT w="12700" cap="flat" cmpd="sng" algn="ctr">
                      <a:solidFill>
                        <a:srgbClr val="D5E3DA"/>
                      </a:solidFill>
                      <a:prstDash val="solid"/>
                      <a:round/>
                      <a:headEnd type="none" w="med" len="med"/>
                      <a:tailEnd type="none" w="med" len="med"/>
                    </a:lnT>
                    <a:lnB w="12700" cap="flat" cmpd="sng" algn="ctr">
                      <a:solidFill>
                        <a:srgbClr val="D5E3DA"/>
                      </a:solidFill>
                      <a:prstDash val="solid"/>
                      <a:round/>
                      <a:headEnd type="none" w="med" len="med"/>
                      <a:tailEnd type="none" w="med" len="med"/>
                    </a:lnB>
                  </a:tcPr>
                </a:tc>
              </a:tr>
              <a:tr h="530352">
                <a:tc>
                  <a:txBody>
                    <a:bodyPr/>
                    <a:lstStyle/>
                    <a:p>
                      <a:pPr indent="0" marL="0">
                        <a:buNone/>
                      </a:pPr>
                      <a:r>
                        <a:rPr lang="en-US" sz="1400" b="1" dirty="0">
                          <a:solidFill>
                            <a:schemeClr val="tx2"/>
                          </a:solidFill>
                        </a:rPr>
                        <a:t>Size</a:t>
                      </a:r>
                      <a:endParaRPr lang="en-US" sz="1400" dirty="0"/>
                    </a:p>
                  </a:txBody>
                  <a:tcPr marL="109728" marR="109728" marT="0" marB="0" anchor="ctr">
                    <a:lnL w="12700" cap="flat" cmpd="sng" algn="ctr">
                      <a:solidFill>
                        <a:srgbClr val="D5E3DA"/>
                      </a:solidFill>
                      <a:prstDash val="solid"/>
                      <a:round/>
                      <a:headEnd type="none" w="med" len="med"/>
                      <a:tailEnd type="none" w="med" len="med"/>
                    </a:lnL>
                    <a:lnR w="12700" cap="flat" cmpd="sng" algn="ctr">
                      <a:solidFill>
                        <a:srgbClr val="D5E3DA"/>
                      </a:solidFill>
                      <a:prstDash val="solid"/>
                      <a:round/>
                      <a:headEnd type="none" w="med" len="med"/>
                      <a:tailEnd type="none" w="med" len="med"/>
                    </a:lnR>
                    <a:lnT w="12700" cap="flat" cmpd="sng" algn="ctr">
                      <a:solidFill>
                        <a:srgbClr val="D5E3DA"/>
                      </a:solidFill>
                      <a:prstDash val="solid"/>
                      <a:round/>
                      <a:headEnd type="none" w="med" len="med"/>
                      <a:tailEnd type="none" w="med" len="med"/>
                    </a:lnT>
                    <a:lnB w="12700" cap="flat" cmpd="sng" algn="ctr">
                      <a:solidFill>
                        <a:srgbClr val="D5E3DA"/>
                      </a:solidFill>
                      <a:prstDash val="solid"/>
                      <a:round/>
                      <a:headEnd type="none" w="med" len="med"/>
                      <a:tailEnd type="none" w="med" len="med"/>
                    </a:lnB>
                    <a:solidFill>
                      <a:schemeClr val="bg2"/>
                    </a:solidFill>
                  </a:tcPr>
                </a:tc>
                <a:tc>
                  <a:txBody>
                    <a:bodyPr/>
                    <a:lstStyle/>
                    <a:p>
                      <a:pPr indent="0" marL="0">
                        <a:buNone/>
                      </a:pPr>
                      <a:r>
                        <a:rPr lang="en-US" sz="1200" dirty="0">
                          <a:solidFill>
                            <a:schemeClr val="accent6"/>
                          </a:solidFill>
                        </a:rPr>
                        <a:t>91,672 clean rows from 62 raw files</a:t>
                      </a:r>
                      <a:endParaRPr lang="en-US" sz="1200" dirty="0"/>
                    </a:p>
                  </a:txBody>
                  <a:tcPr marL="109728" marR="109728" marT="0" marB="0" anchor="ctr">
                    <a:lnL w="12700" cap="flat" cmpd="sng" algn="ctr">
                      <a:solidFill>
                        <a:srgbClr val="D5E3DA"/>
                      </a:solidFill>
                      <a:prstDash val="solid"/>
                      <a:round/>
                      <a:headEnd type="none" w="med" len="med"/>
                      <a:tailEnd type="none" w="med" len="med"/>
                    </a:lnL>
                    <a:lnR w="12700" cap="flat" cmpd="sng" algn="ctr">
                      <a:solidFill>
                        <a:srgbClr val="D5E3DA"/>
                      </a:solidFill>
                      <a:prstDash val="solid"/>
                      <a:round/>
                      <a:headEnd type="none" w="med" len="med"/>
                      <a:tailEnd type="none" w="med" len="med"/>
                    </a:lnR>
                    <a:lnT w="12700" cap="flat" cmpd="sng" algn="ctr">
                      <a:solidFill>
                        <a:srgbClr val="D5E3DA"/>
                      </a:solidFill>
                      <a:prstDash val="solid"/>
                      <a:round/>
                      <a:headEnd type="none" w="med" len="med"/>
                      <a:tailEnd type="none" w="med" len="med"/>
                    </a:lnT>
                    <a:lnB w="12700" cap="flat" cmpd="sng" algn="ctr">
                      <a:solidFill>
                        <a:srgbClr val="D5E3DA"/>
                      </a:solidFill>
                      <a:prstDash val="solid"/>
                      <a:round/>
                      <a:headEnd type="none" w="med" len="med"/>
                      <a:tailEnd type="none" w="med" len="med"/>
                    </a:lnB>
                  </a:tcPr>
                </a:tc>
              </a:tr>
              <a:tr h="530352">
                <a:tc>
                  <a:txBody>
                    <a:bodyPr/>
                    <a:lstStyle/>
                    <a:p>
                      <a:pPr indent="0" marL="0">
                        <a:buNone/>
                      </a:pPr>
                      <a:r>
                        <a:rPr lang="en-US" sz="1400" b="1" dirty="0">
                          <a:solidFill>
                            <a:schemeClr val="tx2"/>
                          </a:solidFill>
                        </a:rPr>
                        <a:t>Time period</a:t>
                      </a:r>
                      <a:endParaRPr lang="en-US" sz="1400" dirty="0"/>
                    </a:p>
                  </a:txBody>
                  <a:tcPr marL="109728" marR="109728" marT="0" marB="0" anchor="ctr">
                    <a:lnL w="12700" cap="flat" cmpd="sng" algn="ctr">
                      <a:solidFill>
                        <a:srgbClr val="D5E3DA"/>
                      </a:solidFill>
                      <a:prstDash val="solid"/>
                      <a:round/>
                      <a:headEnd type="none" w="med" len="med"/>
                      <a:tailEnd type="none" w="med" len="med"/>
                    </a:lnL>
                    <a:lnR w="12700" cap="flat" cmpd="sng" algn="ctr">
                      <a:solidFill>
                        <a:srgbClr val="D5E3DA"/>
                      </a:solidFill>
                      <a:prstDash val="solid"/>
                      <a:round/>
                      <a:headEnd type="none" w="med" len="med"/>
                      <a:tailEnd type="none" w="med" len="med"/>
                    </a:lnR>
                    <a:lnT w="12700" cap="flat" cmpd="sng" algn="ctr">
                      <a:solidFill>
                        <a:srgbClr val="D5E3DA"/>
                      </a:solidFill>
                      <a:prstDash val="solid"/>
                      <a:round/>
                      <a:headEnd type="none" w="med" len="med"/>
                      <a:tailEnd type="none" w="med" len="med"/>
                    </a:lnT>
                    <a:lnB w="12700" cap="flat" cmpd="sng" algn="ctr">
                      <a:solidFill>
                        <a:srgbClr val="D5E3DA"/>
                      </a:solidFill>
                      <a:prstDash val="solid"/>
                      <a:round/>
                      <a:headEnd type="none" w="med" len="med"/>
                      <a:tailEnd type="none" w="med" len="med"/>
                    </a:lnB>
                    <a:solidFill>
                      <a:schemeClr val="bg2"/>
                    </a:solidFill>
                  </a:tcPr>
                </a:tc>
                <a:tc>
                  <a:txBody>
                    <a:bodyPr/>
                    <a:lstStyle/>
                    <a:p>
                      <a:pPr indent="0" marL="0">
                        <a:buNone/>
                      </a:pPr>
                      <a:r>
                        <a:rPr lang="en-US" sz="1200" dirty="0">
                          <a:solidFill>
                            <a:schemeClr val="accent6"/>
                          </a:solidFill>
                        </a:rPr>
                        <a:t>PBS weekly May 2025-Oct 2026; city monthly Jan-Sep 2026; EIA/WB to Oct 2026</a:t>
                      </a:r>
                      <a:endParaRPr lang="en-US" sz="1200" dirty="0"/>
                    </a:p>
                  </a:txBody>
                  <a:tcPr marL="109728" marR="109728" marT="0" marB="0" anchor="ctr">
                    <a:lnL w="12700" cap="flat" cmpd="sng" algn="ctr">
                      <a:solidFill>
                        <a:srgbClr val="D5E3DA"/>
                      </a:solidFill>
                      <a:prstDash val="solid"/>
                      <a:round/>
                      <a:headEnd type="none" w="med" len="med"/>
                      <a:tailEnd type="none" w="med" len="med"/>
                    </a:lnL>
                    <a:lnR w="12700" cap="flat" cmpd="sng" algn="ctr">
                      <a:solidFill>
                        <a:srgbClr val="D5E3DA"/>
                      </a:solidFill>
                      <a:prstDash val="solid"/>
                      <a:round/>
                      <a:headEnd type="none" w="med" len="med"/>
                      <a:tailEnd type="none" w="med" len="med"/>
                    </a:lnR>
                    <a:lnT w="12700" cap="flat" cmpd="sng" algn="ctr">
                      <a:solidFill>
                        <a:srgbClr val="D5E3DA"/>
                      </a:solidFill>
                      <a:prstDash val="solid"/>
                      <a:round/>
                      <a:headEnd type="none" w="med" len="med"/>
                      <a:tailEnd type="none" w="med" len="med"/>
                    </a:lnT>
                    <a:lnB w="12700" cap="flat" cmpd="sng" algn="ctr">
                      <a:solidFill>
                        <a:srgbClr val="D5E3DA"/>
                      </a:solidFill>
                      <a:prstDash val="solid"/>
                      <a:round/>
                      <a:headEnd type="none" w="med" len="med"/>
                      <a:tailEnd type="none" w="med" len="med"/>
                    </a:lnB>
                  </a:tcPr>
                </a:tc>
              </a:tr>
              <a:tr h="530352">
                <a:tc>
                  <a:txBody>
                    <a:bodyPr/>
                    <a:lstStyle/>
                    <a:p>
                      <a:pPr indent="0" marL="0">
                        <a:buNone/>
                      </a:pPr>
                      <a:r>
                        <a:rPr lang="en-US" sz="1400" b="1" dirty="0">
                          <a:solidFill>
                            <a:schemeClr val="tx2"/>
                          </a:solidFill>
                        </a:rPr>
                        <a:t>Format &amp; license</a:t>
                      </a:r>
                      <a:endParaRPr lang="en-US" sz="1400" dirty="0"/>
                    </a:p>
                  </a:txBody>
                  <a:tcPr marL="109728" marR="109728" marT="0" marB="0" anchor="ctr">
                    <a:lnL w="12700" cap="flat" cmpd="sng" algn="ctr">
                      <a:solidFill>
                        <a:srgbClr val="D5E3DA"/>
                      </a:solidFill>
                      <a:prstDash val="solid"/>
                      <a:round/>
                      <a:headEnd type="none" w="med" len="med"/>
                      <a:tailEnd type="none" w="med" len="med"/>
                    </a:lnL>
                    <a:lnR w="12700" cap="flat" cmpd="sng" algn="ctr">
                      <a:solidFill>
                        <a:srgbClr val="D5E3DA"/>
                      </a:solidFill>
                      <a:prstDash val="solid"/>
                      <a:round/>
                      <a:headEnd type="none" w="med" len="med"/>
                      <a:tailEnd type="none" w="med" len="med"/>
                    </a:lnR>
                    <a:lnT w="12700" cap="flat" cmpd="sng" algn="ctr">
                      <a:solidFill>
                        <a:srgbClr val="D5E3DA"/>
                      </a:solidFill>
                      <a:prstDash val="solid"/>
                      <a:round/>
                      <a:headEnd type="none" w="med" len="med"/>
                      <a:tailEnd type="none" w="med" len="med"/>
                    </a:lnT>
                    <a:lnB w="12700" cap="flat" cmpd="sng" algn="ctr">
                      <a:solidFill>
                        <a:srgbClr val="D5E3DA"/>
                      </a:solidFill>
                      <a:prstDash val="solid"/>
                      <a:round/>
                      <a:headEnd type="none" w="med" len="med"/>
                      <a:tailEnd type="none" w="med" len="med"/>
                    </a:lnB>
                    <a:solidFill>
                      <a:schemeClr val="bg2"/>
                    </a:solidFill>
                  </a:tcPr>
                </a:tc>
                <a:tc>
                  <a:txBody>
                    <a:bodyPr/>
                    <a:lstStyle/>
                    <a:p>
                      <a:pPr indent="0" marL="0">
                        <a:buNone/>
                      </a:pPr>
                      <a:r>
                        <a:rPr lang="en-US" sz="1200" dirty="0">
                          <a:solidFill>
                            <a:schemeClr val="accent6"/>
                          </a:solidFill>
                        </a:rPr>
                        <a:t>CSV; Govt open, public domain, CC BY 4.0</a:t>
                      </a:r>
                      <a:endParaRPr lang="en-US" sz="1200" dirty="0"/>
                    </a:p>
                  </a:txBody>
                  <a:tcPr marL="109728" marR="109728" marT="0" marB="0" anchor="ctr">
                    <a:lnL w="12700" cap="flat" cmpd="sng" algn="ctr">
                      <a:solidFill>
                        <a:srgbClr val="D5E3DA"/>
                      </a:solidFill>
                      <a:prstDash val="solid"/>
                      <a:round/>
                      <a:headEnd type="none" w="med" len="med"/>
                      <a:tailEnd type="none" w="med" len="med"/>
                    </a:lnL>
                    <a:lnR w="12700" cap="flat" cmpd="sng" algn="ctr">
                      <a:solidFill>
                        <a:srgbClr val="D5E3DA"/>
                      </a:solidFill>
                      <a:prstDash val="solid"/>
                      <a:round/>
                      <a:headEnd type="none" w="med" len="med"/>
                      <a:tailEnd type="none" w="med" len="med"/>
                    </a:lnR>
                    <a:lnT w="12700" cap="flat" cmpd="sng" algn="ctr">
                      <a:solidFill>
                        <a:srgbClr val="D5E3DA"/>
                      </a:solidFill>
                      <a:prstDash val="solid"/>
                      <a:round/>
                      <a:headEnd type="none" w="med" len="med"/>
                      <a:tailEnd type="none" w="med" len="med"/>
                    </a:lnT>
                    <a:lnB w="12700" cap="flat" cmpd="sng" algn="ctr">
                      <a:solidFill>
                        <a:srgbClr val="D5E3DA"/>
                      </a:solidFill>
                      <a:prstDash val="solid"/>
                      <a:round/>
                      <a:headEnd type="none" w="med" len="med"/>
                      <a:tailEnd type="none" w="med" len="med"/>
                    </a:lnB>
                  </a:tcPr>
                </a:tc>
              </a:tr>
              <a:tr h="530352">
                <a:tc>
                  <a:txBody>
                    <a:bodyPr/>
                    <a:lstStyle/>
                    <a:p>
                      <a:pPr indent="0" marL="0">
                        <a:buNone/>
                      </a:pPr>
                      <a:r>
                        <a:rPr lang="en-US" sz="1400" b="1" dirty="0">
                          <a:solidFill>
                            <a:schemeClr val="tx2"/>
                          </a:solidFill>
                        </a:rPr>
                        <a:t>Key features / target</a:t>
                      </a:r>
                      <a:endParaRPr lang="en-US" sz="1400" dirty="0"/>
                    </a:p>
                  </a:txBody>
                  <a:tcPr marL="109728" marR="109728" marT="0" marB="0" anchor="ctr">
                    <a:lnL w="12700" cap="flat" cmpd="sng" algn="ctr">
                      <a:solidFill>
                        <a:srgbClr val="D5E3DA"/>
                      </a:solidFill>
                      <a:prstDash val="solid"/>
                      <a:round/>
                      <a:headEnd type="none" w="med" len="med"/>
                      <a:tailEnd type="none" w="med" len="med"/>
                    </a:lnL>
                    <a:lnR w="12700" cap="flat" cmpd="sng" algn="ctr">
                      <a:solidFill>
                        <a:srgbClr val="D5E3DA"/>
                      </a:solidFill>
                      <a:prstDash val="solid"/>
                      <a:round/>
                      <a:headEnd type="none" w="med" len="med"/>
                      <a:tailEnd type="none" w="med" len="med"/>
                    </a:lnR>
                    <a:lnT w="12700" cap="flat" cmpd="sng" algn="ctr">
                      <a:solidFill>
                        <a:srgbClr val="D5E3DA"/>
                      </a:solidFill>
                      <a:prstDash val="solid"/>
                      <a:round/>
                      <a:headEnd type="none" w="med" len="med"/>
                      <a:tailEnd type="none" w="med" len="med"/>
                    </a:lnT>
                    <a:lnB w="12700" cap="flat" cmpd="sng" algn="ctr">
                      <a:solidFill>
                        <a:srgbClr val="D5E3DA"/>
                      </a:solidFill>
                      <a:prstDash val="solid"/>
                      <a:round/>
                      <a:headEnd type="none" w="med" len="med"/>
                      <a:tailEnd type="none" w="med" len="med"/>
                    </a:lnB>
                    <a:solidFill>
                      <a:schemeClr val="bg2"/>
                    </a:solidFill>
                  </a:tcPr>
                </a:tc>
                <a:tc>
                  <a:txBody>
                    <a:bodyPr/>
                    <a:lstStyle/>
                    <a:p>
                      <a:pPr indent="0" marL="0">
                        <a:buNone/>
                      </a:pPr>
                      <a:r>
                        <a:rPr lang="en-US" sz="1200" dirty="0">
                          <a:solidFill>
                            <a:schemeClr val="accent6"/>
                          </a:solidFill>
                        </a:rPr>
                        <a:t>Target: next-month Brent volatility (HAR features)</a:t>
                      </a:r>
                      <a:endParaRPr lang="en-US" sz="1200" dirty="0"/>
                    </a:p>
                  </a:txBody>
                  <a:tcPr marL="109728" marR="109728" marT="0" marB="0" anchor="ctr">
                    <a:lnL w="12700" cap="flat" cmpd="sng" algn="ctr">
                      <a:solidFill>
                        <a:srgbClr val="D5E3DA"/>
                      </a:solidFill>
                      <a:prstDash val="solid"/>
                      <a:round/>
                      <a:headEnd type="none" w="med" len="med"/>
                      <a:tailEnd type="none" w="med" len="med"/>
                    </a:lnL>
                    <a:lnR w="12700" cap="flat" cmpd="sng" algn="ctr">
                      <a:solidFill>
                        <a:srgbClr val="D5E3DA"/>
                      </a:solidFill>
                      <a:prstDash val="solid"/>
                      <a:round/>
                      <a:headEnd type="none" w="med" len="med"/>
                      <a:tailEnd type="none" w="med" len="med"/>
                    </a:lnR>
                    <a:lnT w="12700" cap="flat" cmpd="sng" algn="ctr">
                      <a:solidFill>
                        <a:srgbClr val="D5E3DA"/>
                      </a:solidFill>
                      <a:prstDash val="solid"/>
                      <a:round/>
                      <a:headEnd type="none" w="med" len="med"/>
                      <a:tailEnd type="none" w="med" len="med"/>
                    </a:lnT>
                    <a:lnB w="12700" cap="flat" cmpd="sng" algn="ctr">
                      <a:solidFill>
                        <a:srgbClr val="D5E3DA"/>
                      </a:solidFill>
                      <a:prstDash val="solid"/>
                      <a:round/>
                      <a:headEnd type="none" w="med" len="med"/>
                      <a:tailEnd type="none" w="med" len="med"/>
                    </a:lnB>
                  </a:tcPr>
                </a:tc>
              </a:tr>
            </a:tbl>
          </a:graphicData>
        </a:graphic>
      </p:graphicFrame>
      <p:sp>
        <p:nvSpPr>
          <p:cNvPr id="4" name="Stat card 1"/>
          <p:cNvSpPr/>
          <p:nvPr/>
        </p:nvSpPr>
        <p:spPr>
          <a:xfrm>
            <a:off x="6217920" y="1188720"/>
            <a:ext cx="2468880" cy="1005840"/>
          </a:xfrm>
          <a:prstGeom prst="roundRect">
            <a:avLst>
              <a:gd name="adj" fmla="val 9091"/>
            </a:avLst>
          </a:prstGeom>
          <a:solidFill>
            <a:schemeClr val="tx2"/>
          </a:solidFill>
          <a:ln/>
        </p:spPr>
      </p:sp>
      <p:sp>
        <p:nvSpPr>
          <p:cNvPr id="5" name="Text 2"/>
          <p:cNvSpPr txBox="1"/>
          <p:nvPr/>
        </p:nvSpPr>
        <p:spPr>
          <a:xfrm>
            <a:off x="6217920" y="1298448"/>
            <a:ext cx="2468880" cy="502920"/>
          </a:xfrm>
          <a:prstGeom prst="rect">
            <a:avLst/>
          </a:prstGeom>
          <a:noFill/>
          <a:ln/>
        </p:spPr>
        <p:txBody>
          <a:bodyPr wrap="square" lIns="0" tIns="0" rIns="0" bIns="0" rtlCol="0" anchor="ctr"/>
          <a:lstStyle/>
          <a:p>
            <a:pPr algn="ctr" indent="0" marL="0">
              <a:buNone/>
            </a:pPr>
            <a:r>
              <a:rPr lang="en-US" sz="2800" b="1" dirty="0">
                <a:solidFill>
                  <a:schemeClr val="bg1"/>
                </a:solidFill>
              </a:rPr>
              <a:t>91,672</a:t>
            </a:r>
            <a:endParaRPr lang="en-US" sz="2800" dirty="0"/>
          </a:p>
        </p:txBody>
      </p:sp>
      <p:sp>
        <p:nvSpPr>
          <p:cNvPr id="6" name="Text 3"/>
          <p:cNvSpPr txBox="1"/>
          <p:nvPr/>
        </p:nvSpPr>
        <p:spPr>
          <a:xfrm>
            <a:off x="6217920" y="1828800"/>
            <a:ext cx="2468880" cy="274320"/>
          </a:xfrm>
          <a:prstGeom prst="rect">
            <a:avLst/>
          </a:prstGeom>
          <a:noFill/>
          <a:ln/>
        </p:spPr>
        <p:txBody>
          <a:bodyPr wrap="square" lIns="0" tIns="0" rIns="0" bIns="0" rtlCol="0" anchor="ctr"/>
          <a:lstStyle/>
          <a:p>
            <a:pPr algn="ctr" indent="0" marL="0">
              <a:buNone/>
            </a:pPr>
            <a:r>
              <a:rPr lang="en-US" sz="1200" dirty="0">
                <a:solidFill>
                  <a:schemeClr val="accent4"/>
                </a:solidFill>
              </a:rPr>
              <a:t>Clean rows</a:t>
            </a:r>
            <a:endParaRPr lang="en-US" sz="1200" dirty="0"/>
          </a:p>
        </p:txBody>
      </p:sp>
      <p:sp>
        <p:nvSpPr>
          <p:cNvPr id="7" name="Stat card 2"/>
          <p:cNvSpPr/>
          <p:nvPr/>
        </p:nvSpPr>
        <p:spPr>
          <a:xfrm>
            <a:off x="6217920" y="2331720"/>
            <a:ext cx="2468880" cy="1005840"/>
          </a:xfrm>
          <a:prstGeom prst="roundRect">
            <a:avLst>
              <a:gd name="adj" fmla="val 9091"/>
            </a:avLst>
          </a:prstGeom>
          <a:solidFill>
            <a:schemeClr val="tx2"/>
          </a:solidFill>
          <a:ln/>
        </p:spPr>
      </p:sp>
      <p:sp>
        <p:nvSpPr>
          <p:cNvPr id="8" name="Text 5"/>
          <p:cNvSpPr txBox="1"/>
          <p:nvPr/>
        </p:nvSpPr>
        <p:spPr>
          <a:xfrm>
            <a:off x="6217920" y="2441448"/>
            <a:ext cx="2468880" cy="502920"/>
          </a:xfrm>
          <a:prstGeom prst="rect">
            <a:avLst/>
          </a:prstGeom>
          <a:noFill/>
          <a:ln/>
        </p:spPr>
        <p:txBody>
          <a:bodyPr wrap="square" lIns="0" tIns="0" rIns="0" bIns="0" rtlCol="0" anchor="ctr"/>
          <a:lstStyle/>
          <a:p>
            <a:pPr algn="ctr" indent="0" marL="0">
              <a:buNone/>
            </a:pPr>
            <a:r>
              <a:rPr lang="en-US" sz="2800" b="1" dirty="0">
                <a:solidFill>
                  <a:schemeClr val="bg1"/>
                </a:solidFill>
              </a:rPr>
              <a:t>62</a:t>
            </a:r>
            <a:endParaRPr lang="en-US" sz="2800" dirty="0"/>
          </a:p>
        </p:txBody>
      </p:sp>
      <p:sp>
        <p:nvSpPr>
          <p:cNvPr id="9" name="Text 6"/>
          <p:cNvSpPr txBox="1"/>
          <p:nvPr/>
        </p:nvSpPr>
        <p:spPr>
          <a:xfrm>
            <a:off x="6217920" y="2971800"/>
            <a:ext cx="2468880" cy="274320"/>
          </a:xfrm>
          <a:prstGeom prst="rect">
            <a:avLst/>
          </a:prstGeom>
          <a:noFill/>
          <a:ln/>
        </p:spPr>
        <p:txBody>
          <a:bodyPr wrap="square" lIns="0" tIns="0" rIns="0" bIns="0" rtlCol="0" anchor="ctr"/>
          <a:lstStyle/>
          <a:p>
            <a:pPr algn="ctr" indent="0" marL="0">
              <a:buNone/>
            </a:pPr>
            <a:r>
              <a:rPr lang="en-US" sz="1200" dirty="0">
                <a:solidFill>
                  <a:schemeClr val="accent4"/>
                </a:solidFill>
              </a:rPr>
              <a:t>Raw source files</a:t>
            </a:r>
            <a:endParaRPr lang="en-US" sz="1200" dirty="0"/>
          </a:p>
        </p:txBody>
      </p:sp>
      <p:sp>
        <p:nvSpPr>
          <p:cNvPr id="10" name="Stat card 3"/>
          <p:cNvSpPr/>
          <p:nvPr/>
        </p:nvSpPr>
        <p:spPr>
          <a:xfrm>
            <a:off x="6217920" y="3474720"/>
            <a:ext cx="2468880" cy="1005840"/>
          </a:xfrm>
          <a:prstGeom prst="roundRect">
            <a:avLst>
              <a:gd name="adj" fmla="val 9091"/>
            </a:avLst>
          </a:prstGeom>
          <a:solidFill>
            <a:schemeClr val="tx2"/>
          </a:solidFill>
          <a:ln/>
        </p:spPr>
      </p:sp>
      <p:sp>
        <p:nvSpPr>
          <p:cNvPr id="11" name="Text 8"/>
          <p:cNvSpPr txBox="1"/>
          <p:nvPr/>
        </p:nvSpPr>
        <p:spPr>
          <a:xfrm>
            <a:off x="6217920" y="3584448"/>
            <a:ext cx="2468880" cy="502920"/>
          </a:xfrm>
          <a:prstGeom prst="rect">
            <a:avLst/>
          </a:prstGeom>
          <a:noFill/>
          <a:ln/>
        </p:spPr>
        <p:txBody>
          <a:bodyPr wrap="square" lIns="0" tIns="0" rIns="0" bIns="0" rtlCol="0" anchor="ctr"/>
          <a:lstStyle/>
          <a:p>
            <a:pPr algn="ctr" indent="0" marL="0">
              <a:buNone/>
            </a:pPr>
            <a:r>
              <a:rPr lang="en-US" sz="2800" b="1" dirty="0">
                <a:solidFill>
                  <a:schemeClr val="bg1"/>
                </a:solidFill>
              </a:rPr>
              <a:t>3</a:t>
            </a:r>
            <a:endParaRPr lang="en-US" sz="2800" dirty="0"/>
          </a:p>
        </p:txBody>
      </p:sp>
      <p:sp>
        <p:nvSpPr>
          <p:cNvPr id="12" name="Text 9"/>
          <p:cNvSpPr txBox="1"/>
          <p:nvPr/>
        </p:nvSpPr>
        <p:spPr>
          <a:xfrm>
            <a:off x="6217920" y="4114800"/>
            <a:ext cx="2468880" cy="274320"/>
          </a:xfrm>
          <a:prstGeom prst="rect">
            <a:avLst/>
          </a:prstGeom>
          <a:noFill/>
          <a:ln/>
        </p:spPr>
        <p:txBody>
          <a:bodyPr wrap="square" lIns="0" tIns="0" rIns="0" bIns="0" rtlCol="0" anchor="ctr"/>
          <a:lstStyle/>
          <a:p>
            <a:pPr algn="ctr" indent="0" marL="0">
              <a:buNone/>
            </a:pPr>
            <a:r>
              <a:rPr lang="en-US" sz="1200" dirty="0">
                <a:solidFill>
                  <a:schemeClr val="accent4"/>
                </a:solidFill>
              </a:rPr>
              <a:t>Independent publishers</a:t>
            </a:r>
            <a:endParaRPr lang="en-US" sz="1200" dirty="0"/>
          </a:p>
        </p:txBody>
      </p:sp>
      <p:sp>
        <p:nvSpPr>
          <p:cNvPr id="25" name="Slide Number Placeholder 0"/>
          <p:cNvSpPr>
            <a:spLocks noGrp="1"/>
          </p:cNvSpPr>
          <p:nvPr>
            <p:ph type="sldNum" sz="quarter" idx="4294967295"/>
          </p:nvPr>
        </p:nvSpPr>
        <p:spPr>
          <a:xfrm>
            <a:off x="7772400" y="4754880"/>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2"/>
                </a:solidFill>
              </a:rPr>
              <a:t>Pipeline Used</a:t>
            </a:r>
            <a:endParaRPr lang="en-US" sz="3200" dirty="0"/>
          </a:p>
        </p:txBody>
      </p:sp>
      <p:sp>
        <p:nvSpPr>
          <p:cNvPr id="3" name="Stage card 1"/>
          <p:cNvSpPr/>
          <p:nvPr/>
        </p:nvSpPr>
        <p:spPr>
          <a:xfrm>
            <a:off x="457200" y="1280160"/>
            <a:ext cx="1417320" cy="2377440"/>
          </a:xfrm>
          <a:prstGeom prst="roundRect">
            <a:avLst>
              <a:gd name="adj" fmla="val 6452"/>
            </a:avLst>
          </a:prstGeom>
          <a:solidFill>
            <a:schemeClr val="bg2"/>
          </a:solidFill>
          <a:ln/>
        </p:spPr>
      </p:sp>
      <p:sp>
        <p:nvSpPr>
          <p:cNvPr id="4" name="Stage number 1"/>
          <p:cNvSpPr txBox="1"/>
          <p:nvPr/>
        </p:nvSpPr>
        <p:spPr>
          <a:xfrm>
            <a:off x="982980" y="1463040"/>
            <a:ext cx="365760" cy="36576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ext 3"/>
          <p:cNvSpPr txBox="1"/>
          <p:nvPr/>
        </p:nvSpPr>
        <p:spPr>
          <a:xfrm>
            <a:off x="548640" y="1965960"/>
            <a:ext cx="1234440" cy="731520"/>
          </a:xfrm>
          <a:prstGeom prst="rect">
            <a:avLst/>
          </a:prstGeom>
          <a:noFill/>
          <a:ln/>
        </p:spPr>
        <p:txBody>
          <a:bodyPr wrap="square" lIns="0" tIns="0" rIns="0" bIns="0" rtlCol="0" anchor="t"/>
          <a:lstStyle/>
          <a:p>
            <a:pPr algn="ctr" indent="0" marL="0">
              <a:buNone/>
            </a:pPr>
            <a:r>
              <a:rPr lang="en-US" sz="1400" b="1" dirty="0">
                <a:solidFill>
                  <a:schemeClr val="tx2"/>
                </a:solidFill>
              </a:rPr>
              <a:t>Acquire</a:t>
            </a:r>
            <a:endParaRPr lang="en-US" sz="1400" dirty="0"/>
          </a:p>
        </p:txBody>
      </p:sp>
      <p:sp>
        <p:nvSpPr>
          <p:cNvPr id="6" name="Text 4"/>
          <p:cNvSpPr txBox="1"/>
          <p:nvPr/>
        </p:nvSpPr>
        <p:spPr>
          <a:xfrm>
            <a:off x="548640" y="2788920"/>
            <a:ext cx="1234440" cy="640080"/>
          </a:xfrm>
          <a:prstGeom prst="rect">
            <a:avLst/>
          </a:prstGeom>
          <a:noFill/>
          <a:ln/>
        </p:spPr>
        <p:txBody>
          <a:bodyPr wrap="square" lIns="0" tIns="0" rIns="0" bIns="0" rtlCol="0" anchor="t"/>
          <a:lstStyle/>
          <a:p>
            <a:pPr algn="ctr" indent="0" marL="0">
              <a:buNone/>
            </a:pPr>
            <a:r>
              <a:rPr lang="en-US" sz="1200" dirty="0">
                <a:solidFill>
                  <a:schemeClr val="accent6"/>
                </a:solidFill>
              </a:rPr>
              <a:t>PBS, EIA, World Bank; SHA-256 manifest</a:t>
            </a:r>
            <a:endParaRPr lang="en-US" sz="1200" dirty="0"/>
          </a:p>
        </p:txBody>
      </p:sp>
      <p:sp>
        <p:nvSpPr>
          <p:cNvPr id="7" name="Arrow 1"/>
          <p:cNvSpPr/>
          <p:nvPr/>
        </p:nvSpPr>
        <p:spPr>
          <a:xfrm>
            <a:off x="1920240" y="2377440"/>
            <a:ext cx="182880" cy="228600"/>
          </a:xfrm>
          <a:prstGeom prst="rightArrow">
            <a:avLst/>
          </a:prstGeom>
          <a:solidFill>
            <a:schemeClr val="accent1"/>
          </a:solidFill>
          <a:ln/>
        </p:spPr>
      </p:sp>
      <p:sp>
        <p:nvSpPr>
          <p:cNvPr id="8" name="Stage card 2"/>
          <p:cNvSpPr/>
          <p:nvPr/>
        </p:nvSpPr>
        <p:spPr>
          <a:xfrm>
            <a:off x="2148840" y="1280160"/>
            <a:ext cx="1417320" cy="2377440"/>
          </a:xfrm>
          <a:prstGeom prst="roundRect">
            <a:avLst>
              <a:gd name="adj" fmla="val 6452"/>
            </a:avLst>
          </a:prstGeom>
          <a:solidFill>
            <a:schemeClr val="bg2"/>
          </a:solidFill>
          <a:ln/>
        </p:spPr>
      </p:sp>
      <p:sp>
        <p:nvSpPr>
          <p:cNvPr id="9" name="Stage number 2"/>
          <p:cNvSpPr txBox="1"/>
          <p:nvPr/>
        </p:nvSpPr>
        <p:spPr>
          <a:xfrm>
            <a:off x="2674620" y="1463040"/>
            <a:ext cx="365760" cy="36576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8"/>
          <p:cNvSpPr txBox="1"/>
          <p:nvPr/>
        </p:nvSpPr>
        <p:spPr>
          <a:xfrm>
            <a:off x="2240280" y="1965960"/>
            <a:ext cx="1234440" cy="731520"/>
          </a:xfrm>
          <a:prstGeom prst="rect">
            <a:avLst/>
          </a:prstGeom>
          <a:noFill/>
          <a:ln/>
        </p:spPr>
        <p:txBody>
          <a:bodyPr wrap="square" lIns="0" tIns="0" rIns="0" bIns="0" rtlCol="0" anchor="t"/>
          <a:lstStyle/>
          <a:p>
            <a:pPr algn="ctr" indent="0" marL="0">
              <a:buNone/>
            </a:pPr>
            <a:r>
              <a:rPr lang="en-US" sz="1400" b="1" dirty="0">
                <a:solidFill>
                  <a:schemeClr val="tx2"/>
                </a:solidFill>
              </a:rPr>
              <a:t>Clean &amp; Quality</a:t>
            </a:r>
            <a:endParaRPr lang="en-US" sz="1400" dirty="0"/>
          </a:p>
        </p:txBody>
      </p:sp>
      <p:sp>
        <p:nvSpPr>
          <p:cNvPr id="11" name="Text 9"/>
          <p:cNvSpPr txBox="1"/>
          <p:nvPr/>
        </p:nvSpPr>
        <p:spPr>
          <a:xfrm>
            <a:off x="2240280" y="2788920"/>
            <a:ext cx="1234440" cy="640080"/>
          </a:xfrm>
          <a:prstGeom prst="rect">
            <a:avLst/>
          </a:prstGeom>
          <a:noFill/>
          <a:ln/>
        </p:spPr>
        <p:txBody>
          <a:bodyPr wrap="square" lIns="0" tIns="0" rIns="0" bIns="0" rtlCol="0" anchor="t"/>
          <a:lstStyle/>
          <a:p>
            <a:pPr algn="ctr" indent="0" marL="0">
              <a:buNone/>
            </a:pPr>
            <a:r>
              <a:rPr lang="en-US" sz="1200" dirty="0">
                <a:solidFill>
                  <a:schemeClr val="accent6"/>
                </a:solidFill>
              </a:rPr>
              <a:t>Typed tables; FIX / FLAG / FAIL log</a:t>
            </a:r>
            <a:endParaRPr lang="en-US" sz="1200" dirty="0"/>
          </a:p>
        </p:txBody>
      </p:sp>
      <p:sp>
        <p:nvSpPr>
          <p:cNvPr id="12" name="Arrow 2"/>
          <p:cNvSpPr/>
          <p:nvPr/>
        </p:nvSpPr>
        <p:spPr>
          <a:xfrm>
            <a:off x="3611880" y="2377440"/>
            <a:ext cx="182880" cy="228600"/>
          </a:xfrm>
          <a:prstGeom prst="rightArrow">
            <a:avLst/>
          </a:prstGeom>
          <a:solidFill>
            <a:schemeClr val="accent1"/>
          </a:solidFill>
          <a:ln/>
        </p:spPr>
      </p:sp>
      <p:sp>
        <p:nvSpPr>
          <p:cNvPr id="13" name="Stage card 3"/>
          <p:cNvSpPr/>
          <p:nvPr/>
        </p:nvSpPr>
        <p:spPr>
          <a:xfrm>
            <a:off x="3840480" y="1280160"/>
            <a:ext cx="1417320" cy="2377440"/>
          </a:xfrm>
          <a:prstGeom prst="roundRect">
            <a:avLst>
              <a:gd name="adj" fmla="val 6452"/>
            </a:avLst>
          </a:prstGeom>
          <a:solidFill>
            <a:schemeClr val="bg2"/>
          </a:solidFill>
          <a:ln/>
        </p:spPr>
      </p:sp>
      <p:sp>
        <p:nvSpPr>
          <p:cNvPr id="14" name="Stage number 3"/>
          <p:cNvSpPr txBox="1"/>
          <p:nvPr/>
        </p:nvSpPr>
        <p:spPr>
          <a:xfrm>
            <a:off x="4366260" y="1463040"/>
            <a:ext cx="365760" cy="36576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Text 13"/>
          <p:cNvSpPr txBox="1"/>
          <p:nvPr/>
        </p:nvSpPr>
        <p:spPr>
          <a:xfrm>
            <a:off x="3931920" y="1965960"/>
            <a:ext cx="1234440" cy="731520"/>
          </a:xfrm>
          <a:prstGeom prst="rect">
            <a:avLst/>
          </a:prstGeom>
          <a:noFill/>
          <a:ln/>
        </p:spPr>
        <p:txBody>
          <a:bodyPr wrap="square" lIns="0" tIns="0" rIns="0" bIns="0" rtlCol="0" anchor="t"/>
          <a:lstStyle/>
          <a:p>
            <a:pPr algn="ctr" indent="0" marL="0">
              <a:buNone/>
            </a:pPr>
            <a:r>
              <a:rPr lang="en-US" sz="1400" b="1" dirty="0">
                <a:solidFill>
                  <a:schemeClr val="tx2"/>
                </a:solidFill>
              </a:rPr>
              <a:t>Gold Layer</a:t>
            </a:r>
            <a:endParaRPr lang="en-US" sz="1400" dirty="0"/>
          </a:p>
        </p:txBody>
      </p:sp>
      <p:sp>
        <p:nvSpPr>
          <p:cNvPr id="16" name="Text 14"/>
          <p:cNvSpPr txBox="1"/>
          <p:nvPr/>
        </p:nvSpPr>
        <p:spPr>
          <a:xfrm>
            <a:off x="3931920" y="2788920"/>
            <a:ext cx="1234440" cy="640080"/>
          </a:xfrm>
          <a:prstGeom prst="rect">
            <a:avLst/>
          </a:prstGeom>
          <a:noFill/>
          <a:ln/>
        </p:spPr>
        <p:txBody>
          <a:bodyPr wrap="square" lIns="0" tIns="0" rIns="0" bIns="0" rtlCol="0" anchor="t"/>
          <a:lstStyle/>
          <a:p>
            <a:pPr algn="ctr" indent="0" marL="0">
              <a:buNone/>
            </a:pPr>
            <a:r>
              <a:rPr lang="en-US" sz="1200" dirty="0">
                <a:solidFill>
                  <a:schemeClr val="accent6"/>
                </a:solidFill>
              </a:rPr>
              <a:t>Only quotable layer; row ids, citations</a:t>
            </a:r>
            <a:endParaRPr lang="en-US" sz="1200" dirty="0"/>
          </a:p>
        </p:txBody>
      </p:sp>
      <p:sp>
        <p:nvSpPr>
          <p:cNvPr id="17" name="Arrow 3"/>
          <p:cNvSpPr/>
          <p:nvPr/>
        </p:nvSpPr>
        <p:spPr>
          <a:xfrm>
            <a:off x="5303520" y="2377440"/>
            <a:ext cx="182880" cy="228600"/>
          </a:xfrm>
          <a:prstGeom prst="rightArrow">
            <a:avLst/>
          </a:prstGeom>
          <a:solidFill>
            <a:schemeClr val="accent1"/>
          </a:solidFill>
          <a:ln/>
        </p:spPr>
      </p:sp>
      <p:sp>
        <p:nvSpPr>
          <p:cNvPr id="18" name="Stage card 4"/>
          <p:cNvSpPr/>
          <p:nvPr/>
        </p:nvSpPr>
        <p:spPr>
          <a:xfrm>
            <a:off x="5532120" y="1280160"/>
            <a:ext cx="1417320" cy="2377440"/>
          </a:xfrm>
          <a:prstGeom prst="roundRect">
            <a:avLst>
              <a:gd name="adj" fmla="val 6452"/>
            </a:avLst>
          </a:prstGeom>
          <a:solidFill>
            <a:schemeClr val="bg2"/>
          </a:solidFill>
          <a:ln/>
        </p:spPr>
      </p:sp>
      <p:sp>
        <p:nvSpPr>
          <p:cNvPr id="19" name="Stage number 4"/>
          <p:cNvSpPr txBox="1"/>
          <p:nvPr/>
        </p:nvSpPr>
        <p:spPr>
          <a:xfrm>
            <a:off x="6057900" y="1463040"/>
            <a:ext cx="365760" cy="36576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0" name="Text 18"/>
          <p:cNvSpPr txBox="1"/>
          <p:nvPr/>
        </p:nvSpPr>
        <p:spPr>
          <a:xfrm>
            <a:off x="5623560" y="1965960"/>
            <a:ext cx="1234440" cy="731520"/>
          </a:xfrm>
          <a:prstGeom prst="rect">
            <a:avLst/>
          </a:prstGeom>
          <a:noFill/>
          <a:ln/>
        </p:spPr>
        <p:txBody>
          <a:bodyPr wrap="square" lIns="0" tIns="0" rIns="0" bIns="0" rtlCol="0" anchor="t"/>
          <a:lstStyle/>
          <a:p>
            <a:pPr algn="ctr" indent="0" marL="0">
              <a:buNone/>
            </a:pPr>
            <a:r>
              <a:rPr lang="en-US" sz="1400" b="1" dirty="0">
                <a:solidFill>
                  <a:schemeClr val="tx2"/>
                </a:solidFill>
              </a:rPr>
              <a:t>Model</a:t>
            </a:r>
            <a:endParaRPr lang="en-US" sz="1400" dirty="0"/>
          </a:p>
        </p:txBody>
      </p:sp>
      <p:sp>
        <p:nvSpPr>
          <p:cNvPr id="21" name="Text 19"/>
          <p:cNvSpPr txBox="1"/>
          <p:nvPr/>
        </p:nvSpPr>
        <p:spPr>
          <a:xfrm>
            <a:off x="5623560" y="2788920"/>
            <a:ext cx="1234440" cy="640080"/>
          </a:xfrm>
          <a:prstGeom prst="rect">
            <a:avLst/>
          </a:prstGeom>
          <a:noFill/>
          <a:ln/>
        </p:spPr>
        <p:txBody>
          <a:bodyPr wrap="square" lIns="0" tIns="0" rIns="0" bIns="0" rtlCol="0" anchor="t"/>
          <a:lstStyle/>
          <a:p>
            <a:pPr algn="ctr" indent="0" marL="0">
              <a:buNone/>
            </a:pPr>
            <a:r>
              <a:rPr lang="en-US" sz="1200" dirty="0">
                <a:solidFill>
                  <a:schemeClr val="accent6"/>
                </a:solidFill>
              </a:rPr>
              <a:t>HAR ridge vs persistence baseline</a:t>
            </a:r>
            <a:endParaRPr lang="en-US" sz="1200" dirty="0"/>
          </a:p>
        </p:txBody>
      </p:sp>
      <p:sp>
        <p:nvSpPr>
          <p:cNvPr id="22" name="Arrow 4"/>
          <p:cNvSpPr/>
          <p:nvPr/>
        </p:nvSpPr>
        <p:spPr>
          <a:xfrm>
            <a:off x="6995160" y="2377440"/>
            <a:ext cx="182880" cy="228600"/>
          </a:xfrm>
          <a:prstGeom prst="rightArrow">
            <a:avLst/>
          </a:prstGeom>
          <a:solidFill>
            <a:schemeClr val="accent1"/>
          </a:solidFill>
          <a:ln/>
        </p:spPr>
      </p:sp>
      <p:sp>
        <p:nvSpPr>
          <p:cNvPr id="23" name="Stage card 5"/>
          <p:cNvSpPr/>
          <p:nvPr/>
        </p:nvSpPr>
        <p:spPr>
          <a:xfrm>
            <a:off x="7223760" y="1280160"/>
            <a:ext cx="1417320" cy="2377440"/>
          </a:xfrm>
          <a:prstGeom prst="roundRect">
            <a:avLst>
              <a:gd name="adj" fmla="val 6452"/>
            </a:avLst>
          </a:prstGeom>
          <a:solidFill>
            <a:schemeClr val="bg2"/>
          </a:solidFill>
          <a:ln/>
        </p:spPr>
      </p:sp>
      <p:sp>
        <p:nvSpPr>
          <p:cNvPr id="24" name="Stage number 5"/>
          <p:cNvSpPr txBox="1"/>
          <p:nvPr/>
        </p:nvSpPr>
        <p:spPr>
          <a:xfrm>
            <a:off x="7749540" y="1463040"/>
            <a:ext cx="365760" cy="36576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5" name="Text 23"/>
          <p:cNvSpPr txBox="1"/>
          <p:nvPr/>
        </p:nvSpPr>
        <p:spPr>
          <a:xfrm>
            <a:off x="7315200" y="1965960"/>
            <a:ext cx="1234440" cy="731520"/>
          </a:xfrm>
          <a:prstGeom prst="rect">
            <a:avLst/>
          </a:prstGeom>
          <a:noFill/>
          <a:ln/>
        </p:spPr>
        <p:txBody>
          <a:bodyPr wrap="square" lIns="0" tIns="0" rIns="0" bIns="0" rtlCol="0" anchor="t"/>
          <a:lstStyle/>
          <a:p>
            <a:pPr algn="ctr" indent="0" marL="0">
              <a:buNone/>
            </a:pPr>
            <a:r>
              <a:rPr lang="en-US" sz="1400" b="1" dirty="0">
                <a:solidFill>
                  <a:schemeClr val="tx2"/>
                </a:solidFill>
              </a:rPr>
              <a:t>Insight Agent</a:t>
            </a:r>
            <a:endParaRPr lang="en-US" sz="1400" dirty="0"/>
          </a:p>
        </p:txBody>
      </p:sp>
      <p:sp>
        <p:nvSpPr>
          <p:cNvPr id="26" name="Text 24"/>
          <p:cNvSpPr txBox="1"/>
          <p:nvPr/>
        </p:nvSpPr>
        <p:spPr>
          <a:xfrm>
            <a:off x="7315200" y="2788920"/>
            <a:ext cx="1234440" cy="640080"/>
          </a:xfrm>
          <a:prstGeom prst="rect">
            <a:avLst/>
          </a:prstGeom>
          <a:noFill/>
          <a:ln/>
        </p:spPr>
        <p:txBody>
          <a:bodyPr wrap="square" lIns="0" tIns="0" rIns="0" bIns="0" rtlCol="0" anchor="t"/>
          <a:lstStyle/>
          <a:p>
            <a:pPr algn="ctr" indent="0" marL="0">
              <a:buNone/>
            </a:pPr>
            <a:r>
              <a:rPr lang="en-US" sz="1200" dirty="0">
                <a:solidFill>
                  <a:schemeClr val="accent6"/>
                </a:solidFill>
              </a:rPr>
              <a:t>Cited answers or refusal; EN + Urdu</a:t>
            </a:r>
            <a:endParaRPr lang="en-US" sz="1200" dirty="0"/>
          </a:p>
        </p:txBody>
      </p:sp>
      <p:sp>
        <p:nvSpPr>
          <p:cNvPr id="27" name="Summary bar"/>
          <p:cNvSpPr/>
          <p:nvPr/>
        </p:nvSpPr>
        <p:spPr>
          <a:xfrm>
            <a:off x="457200" y="3886200"/>
            <a:ext cx="8229600" cy="594360"/>
          </a:xfrm>
          <a:prstGeom prst="roundRect">
            <a:avLst>
              <a:gd name="adj" fmla="val 15385"/>
            </a:avLst>
          </a:prstGeom>
          <a:solidFill>
            <a:schemeClr val="tx2"/>
          </a:solidFill>
          <a:ln/>
        </p:spPr>
      </p:sp>
      <p:sp>
        <p:nvSpPr>
          <p:cNvPr id="28" name="Text 26"/>
          <p:cNvSpPr txBox="1"/>
          <p:nvPr/>
        </p:nvSpPr>
        <p:spPr>
          <a:xfrm>
            <a:off x="731520" y="3886200"/>
            <a:ext cx="7680960" cy="594360"/>
          </a:xfrm>
          <a:prstGeom prst="rect">
            <a:avLst/>
          </a:prstGeom>
          <a:noFill/>
          <a:ln/>
        </p:spPr>
        <p:txBody>
          <a:bodyPr wrap="square" lIns="0" tIns="0" rIns="0" bIns="0" rtlCol="0" anchor="ctr"/>
          <a:lstStyle/>
          <a:p>
            <a:pPr indent="0" marL="0">
              <a:buNone/>
            </a:pPr>
            <a:r>
              <a:rPr lang="en-US" sz="1400" dirty="0">
                <a:solidFill>
                  <a:schemeClr val="bg1"/>
                </a:solidFill>
              </a:rPr>
              <a:t>Raw files in  -&gt;  cited prices, a volatility forecast, an agent that refuses</a:t>
            </a:r>
            <a:endParaRPr lang="en-US" sz="1400" dirty="0"/>
          </a:p>
        </p:txBody>
      </p:sp>
      <p:sp>
        <p:nvSpPr>
          <p:cNvPr id="25" name="Slide Number Placeholder 0"/>
          <p:cNvSpPr>
            <a:spLocks noGrp="1"/>
          </p:cNvSpPr>
          <p:nvPr>
            <p:ph type="sldNum" sz="quarter" idx="4294967295"/>
          </p:nvPr>
        </p:nvSpPr>
        <p:spPr>
          <a:xfrm>
            <a:off x="7772400" y="4754880"/>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2"/>
                </a:solidFill>
              </a:rPr>
              <a:t>Pipeline Details &amp; Tools</a:t>
            </a:r>
            <a:endParaRPr lang="en-US" sz="3200" dirty="0"/>
          </a:p>
        </p:txBody>
      </p:sp>
      <p:graphicFrame>
        <p:nvGraphicFramePr>
          <p:cNvPr id="6" name="Tools table"/>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828800"/>
                <a:gridCol w="2743200"/>
                <a:gridCol w="3657600"/>
              </a:tblGrid>
              <a:tr h="457200">
                <a:tc>
                  <a:txBody>
                    <a:bodyPr/>
                    <a:lstStyle/>
                    <a:p>
                      <a:pPr indent="0" marL="0">
                        <a:buNone/>
                      </a:pPr>
                      <a:r>
                        <a:rPr lang="en-US" sz="1400" b="1" dirty="0">
                          <a:solidFill>
                            <a:schemeClr val="bg1"/>
                          </a:solidFill>
                        </a:rPr>
                        <a:t>Stage</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400" b="1" dirty="0">
                          <a:solidFill>
                            <a:schemeClr val="bg1"/>
                          </a:solidFill>
                        </a:rPr>
                        <a:t>Tools / Libraries</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400" b="1" dirty="0">
                          <a:solidFill>
                            <a:schemeClr val="bg1"/>
                          </a:solidFill>
                        </a:rPr>
                        <a:t>What we did</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tx2"/>
                    </a:solidFill>
                  </a:tcPr>
                </a:tc>
              </a:tr>
              <a:tr h="566928">
                <a:tc>
                  <a:txBody>
                    <a:bodyPr/>
                    <a:lstStyle/>
                    <a:p>
                      <a:pPr indent="0" marL="0">
                        <a:buNone/>
                      </a:pPr>
                      <a:r>
                        <a:rPr lang="en-US" sz="1400" b="1" dirty="0">
                          <a:solidFill>
                            <a:schemeClr val="tx2"/>
                          </a:solidFill>
                        </a:rPr>
                        <a:t>Collection</a:t>
                      </a:r>
                      <a:endParaRPr lang="en-US" sz="1400" dirty="0"/>
                    </a:p>
                  </a:txBody>
                  <a:tcPr marL="109728" marR="109728" marT="0" marB="0" anchor="ctr">
                    <a:lnL w="12700" cap="flat" cmpd="sng" algn="ctr">
                      <a:solidFill>
                        <a:srgbClr val="D5E3DA"/>
                      </a:solidFill>
                      <a:prstDash val="solid"/>
                      <a:round/>
                      <a:headEnd type="none" w="med" len="med"/>
                      <a:tailEnd type="none" w="med" len="med"/>
                    </a:lnL>
                    <a:lnR w="12700" cap="flat" cmpd="sng" algn="ctr">
                      <a:solidFill>
                        <a:srgbClr val="D5E3DA"/>
                      </a:solidFill>
                      <a:prstDash val="solid"/>
                      <a:round/>
                      <a:headEnd type="none" w="med" len="med"/>
                      <a:tailEnd type="none" w="med" len="med"/>
                    </a:lnR>
                    <a:lnT w="12700" cap="flat" cmpd="sng" algn="ctr">
                      <a:solidFill>
                        <a:srgbClr val="D5E3DA"/>
                      </a:solidFill>
                      <a:prstDash val="solid"/>
                      <a:round/>
                      <a:headEnd type="none" w="med" len="med"/>
                      <a:tailEnd type="none" w="med" len="med"/>
                    </a:lnT>
                    <a:lnB w="12700" cap="flat" cmpd="sng" algn="ctr">
                      <a:solidFill>
                        <a:srgbClr val="D5E3DA"/>
                      </a:solidFill>
                      <a:prstDash val="solid"/>
                      <a:round/>
                      <a:headEnd type="none" w="med" len="med"/>
                      <a:tailEnd type="none" w="med" len="med"/>
                    </a:lnB>
                    <a:solidFill>
                      <a:schemeClr val="bg2"/>
                    </a:solidFill>
                  </a:tcPr>
                </a:tc>
                <a:tc>
                  <a:txBody>
                    <a:bodyPr/>
                    <a:lstStyle/>
                    <a:p>
                      <a:pPr indent="0" marL="0">
                        <a:buNone/>
                      </a:pPr>
                      <a:r>
                        <a:rPr lang="en-US" sz="1200" dirty="0">
                          <a:solidFill>
                            <a:schemeClr val="accent6"/>
                          </a:solidFill>
                        </a:rPr>
                        <a:t>Python, requests, SHA-256 manifest</a:t>
                      </a:r>
                      <a:endParaRPr lang="en-US" sz="1200" dirty="0"/>
                    </a:p>
                  </a:txBody>
                  <a:tcPr marL="109728" marR="109728" marT="0" marB="0" anchor="ctr">
                    <a:lnL w="12700" cap="flat" cmpd="sng" algn="ctr">
                      <a:solidFill>
                        <a:srgbClr val="D5E3DA"/>
                      </a:solidFill>
                      <a:prstDash val="solid"/>
                      <a:round/>
                      <a:headEnd type="none" w="med" len="med"/>
                      <a:tailEnd type="none" w="med" len="med"/>
                    </a:lnL>
                    <a:lnR w="12700" cap="flat" cmpd="sng" algn="ctr">
                      <a:solidFill>
                        <a:srgbClr val="D5E3DA"/>
                      </a:solidFill>
                      <a:prstDash val="solid"/>
                      <a:round/>
                      <a:headEnd type="none" w="med" len="med"/>
                      <a:tailEnd type="none" w="med" len="med"/>
                    </a:lnR>
                    <a:lnT w="12700" cap="flat" cmpd="sng" algn="ctr">
                      <a:solidFill>
                        <a:srgbClr val="D5E3DA"/>
                      </a:solidFill>
                      <a:prstDash val="solid"/>
                      <a:round/>
                      <a:headEnd type="none" w="med" len="med"/>
                      <a:tailEnd type="none" w="med" len="med"/>
                    </a:lnT>
                    <a:lnB w="12700" cap="flat" cmpd="sng" algn="ctr">
                      <a:solidFill>
                        <a:srgbClr val="D5E3DA"/>
                      </a:solidFill>
                      <a:prstDash val="solid"/>
                      <a:round/>
                      <a:headEnd type="none" w="med" len="med"/>
                      <a:tailEnd type="none" w="med" len="med"/>
                    </a:lnB>
                  </a:tcPr>
                </a:tc>
                <a:tc>
                  <a:txBody>
                    <a:bodyPr/>
                    <a:lstStyle/>
                    <a:p>
                      <a:pPr indent="0" marL="0">
                        <a:buNone/>
                      </a:pPr>
                      <a:r>
                        <a:rPr lang="en-US" sz="1200" dirty="0">
                          <a:solidFill>
                            <a:schemeClr val="accent6"/>
                          </a:solidFill>
                        </a:rPr>
                        <a:t>Downloads 62 raw files from PBS, EIA, World Bank; hashes each</a:t>
                      </a:r>
                      <a:endParaRPr lang="en-US" sz="1200" dirty="0"/>
                    </a:p>
                  </a:txBody>
                  <a:tcPr marL="109728" marR="109728" marT="0" marB="0" anchor="ctr">
                    <a:lnL w="12700" cap="flat" cmpd="sng" algn="ctr">
                      <a:solidFill>
                        <a:srgbClr val="D5E3DA"/>
                      </a:solidFill>
                      <a:prstDash val="solid"/>
                      <a:round/>
                      <a:headEnd type="none" w="med" len="med"/>
                      <a:tailEnd type="none" w="med" len="med"/>
                    </a:lnL>
                    <a:lnR w="12700" cap="flat" cmpd="sng" algn="ctr">
                      <a:solidFill>
                        <a:srgbClr val="D5E3DA"/>
                      </a:solidFill>
                      <a:prstDash val="solid"/>
                      <a:round/>
                      <a:headEnd type="none" w="med" len="med"/>
                      <a:tailEnd type="none" w="med" len="med"/>
                    </a:lnR>
                    <a:lnT w="12700" cap="flat" cmpd="sng" algn="ctr">
                      <a:solidFill>
                        <a:srgbClr val="D5E3DA"/>
                      </a:solidFill>
                      <a:prstDash val="solid"/>
                      <a:round/>
                      <a:headEnd type="none" w="med" len="med"/>
                      <a:tailEnd type="none" w="med" len="med"/>
                    </a:lnT>
                    <a:lnB w="12700" cap="flat" cmpd="sng" algn="ctr">
                      <a:solidFill>
                        <a:srgbClr val="D5E3DA"/>
                      </a:solidFill>
                      <a:prstDash val="solid"/>
                      <a:round/>
                      <a:headEnd type="none" w="med" len="med"/>
                      <a:tailEnd type="none" w="med" len="med"/>
                    </a:lnB>
                  </a:tcPr>
                </a:tc>
              </a:tr>
              <a:tr h="566928">
                <a:tc>
                  <a:txBody>
                    <a:bodyPr/>
                    <a:lstStyle/>
                    <a:p>
                      <a:pPr indent="0" marL="0">
                        <a:buNone/>
                      </a:pPr>
                      <a:r>
                        <a:rPr lang="en-US" sz="1400" b="1" dirty="0">
                          <a:solidFill>
                            <a:schemeClr val="tx2"/>
                          </a:solidFill>
                        </a:rPr>
                        <a:t>Clean &amp; Quality</a:t>
                      </a:r>
                      <a:endParaRPr lang="en-US" sz="1400" dirty="0"/>
                    </a:p>
                  </a:txBody>
                  <a:tcPr marL="109728" marR="109728" marT="0" marB="0" anchor="ctr">
                    <a:lnL w="12700" cap="flat" cmpd="sng" algn="ctr">
                      <a:solidFill>
                        <a:srgbClr val="D5E3DA"/>
                      </a:solidFill>
                      <a:prstDash val="solid"/>
                      <a:round/>
                      <a:headEnd type="none" w="med" len="med"/>
                      <a:tailEnd type="none" w="med" len="med"/>
                    </a:lnL>
                    <a:lnR w="12700" cap="flat" cmpd="sng" algn="ctr">
                      <a:solidFill>
                        <a:srgbClr val="D5E3DA"/>
                      </a:solidFill>
                      <a:prstDash val="solid"/>
                      <a:round/>
                      <a:headEnd type="none" w="med" len="med"/>
                      <a:tailEnd type="none" w="med" len="med"/>
                    </a:lnR>
                    <a:lnT w="12700" cap="flat" cmpd="sng" algn="ctr">
                      <a:solidFill>
                        <a:srgbClr val="D5E3DA"/>
                      </a:solidFill>
                      <a:prstDash val="solid"/>
                      <a:round/>
                      <a:headEnd type="none" w="med" len="med"/>
                      <a:tailEnd type="none" w="med" len="med"/>
                    </a:lnT>
                    <a:lnB w="12700" cap="flat" cmpd="sng" algn="ctr">
                      <a:solidFill>
                        <a:srgbClr val="D5E3DA"/>
                      </a:solidFill>
                      <a:prstDash val="solid"/>
                      <a:round/>
                      <a:headEnd type="none" w="med" len="med"/>
                      <a:tailEnd type="none" w="med" len="med"/>
                    </a:lnB>
                    <a:solidFill>
                      <a:schemeClr val="bg2"/>
                    </a:solidFill>
                  </a:tcPr>
                </a:tc>
                <a:tc>
                  <a:txBody>
                    <a:bodyPr/>
                    <a:lstStyle/>
                    <a:p>
                      <a:pPr indent="0" marL="0">
                        <a:buNone/>
                      </a:pPr>
                      <a:r>
                        <a:rPr lang="en-US" sz="1200" dirty="0">
                          <a:solidFill>
                            <a:schemeClr val="accent6"/>
                          </a:solidFill>
                        </a:rPr>
                        <a:t>Python, rule-based quality agent</a:t>
                      </a:r>
                      <a:endParaRPr lang="en-US" sz="1200" dirty="0"/>
                    </a:p>
                  </a:txBody>
                  <a:tcPr marL="109728" marR="109728" marT="0" marB="0" anchor="ctr">
                    <a:lnL w="12700" cap="flat" cmpd="sng" algn="ctr">
                      <a:solidFill>
                        <a:srgbClr val="D5E3DA"/>
                      </a:solidFill>
                      <a:prstDash val="solid"/>
                      <a:round/>
                      <a:headEnd type="none" w="med" len="med"/>
                      <a:tailEnd type="none" w="med" len="med"/>
                    </a:lnL>
                    <a:lnR w="12700" cap="flat" cmpd="sng" algn="ctr">
                      <a:solidFill>
                        <a:srgbClr val="D5E3DA"/>
                      </a:solidFill>
                      <a:prstDash val="solid"/>
                      <a:round/>
                      <a:headEnd type="none" w="med" len="med"/>
                      <a:tailEnd type="none" w="med" len="med"/>
                    </a:lnR>
                    <a:lnT w="12700" cap="flat" cmpd="sng" algn="ctr">
                      <a:solidFill>
                        <a:srgbClr val="D5E3DA"/>
                      </a:solidFill>
                      <a:prstDash val="solid"/>
                      <a:round/>
                      <a:headEnd type="none" w="med" len="med"/>
                      <a:tailEnd type="none" w="med" len="med"/>
                    </a:lnT>
                    <a:lnB w="12700" cap="flat" cmpd="sng" algn="ctr">
                      <a:solidFill>
                        <a:srgbClr val="D5E3DA"/>
                      </a:solidFill>
                      <a:prstDash val="solid"/>
                      <a:round/>
                      <a:headEnd type="none" w="med" len="med"/>
                      <a:tailEnd type="none" w="med" len="med"/>
                    </a:lnB>
                  </a:tcPr>
                </a:tc>
                <a:tc>
                  <a:txBody>
                    <a:bodyPr/>
                    <a:lstStyle/>
                    <a:p>
                      <a:pPr indent="0" marL="0">
                        <a:buNone/>
                      </a:pPr>
                      <a:r>
                        <a:rPr lang="en-US" sz="1200" dirty="0">
                          <a:solidFill>
                            <a:schemeClr val="accent6"/>
                          </a:solidFill>
                        </a:rPr>
                        <a:t>Typed tables; every decision logged, nothing invented</a:t>
                      </a:r>
                      <a:endParaRPr lang="en-US" sz="1200" dirty="0"/>
                    </a:p>
                  </a:txBody>
                  <a:tcPr marL="109728" marR="109728" marT="0" marB="0" anchor="ctr">
                    <a:lnL w="12700" cap="flat" cmpd="sng" algn="ctr">
                      <a:solidFill>
                        <a:srgbClr val="D5E3DA"/>
                      </a:solidFill>
                      <a:prstDash val="solid"/>
                      <a:round/>
                      <a:headEnd type="none" w="med" len="med"/>
                      <a:tailEnd type="none" w="med" len="med"/>
                    </a:lnL>
                    <a:lnR w="12700" cap="flat" cmpd="sng" algn="ctr">
                      <a:solidFill>
                        <a:srgbClr val="D5E3DA"/>
                      </a:solidFill>
                      <a:prstDash val="solid"/>
                      <a:round/>
                      <a:headEnd type="none" w="med" len="med"/>
                      <a:tailEnd type="none" w="med" len="med"/>
                    </a:lnR>
                    <a:lnT w="12700" cap="flat" cmpd="sng" algn="ctr">
                      <a:solidFill>
                        <a:srgbClr val="D5E3DA"/>
                      </a:solidFill>
                      <a:prstDash val="solid"/>
                      <a:round/>
                      <a:headEnd type="none" w="med" len="med"/>
                      <a:tailEnd type="none" w="med" len="med"/>
                    </a:lnT>
                    <a:lnB w="12700" cap="flat" cmpd="sng" algn="ctr">
                      <a:solidFill>
                        <a:srgbClr val="D5E3DA"/>
                      </a:solidFill>
                      <a:prstDash val="solid"/>
                      <a:round/>
                      <a:headEnd type="none" w="med" len="med"/>
                      <a:tailEnd type="none" w="med" len="med"/>
                    </a:lnB>
                  </a:tcPr>
                </a:tc>
              </a:tr>
              <a:tr h="566928">
                <a:tc>
                  <a:txBody>
                    <a:bodyPr/>
                    <a:lstStyle/>
                    <a:p>
                      <a:pPr indent="0" marL="0">
                        <a:buNone/>
                      </a:pPr>
                      <a:r>
                        <a:rPr lang="en-US" sz="1400" b="1" dirty="0">
                          <a:solidFill>
                            <a:schemeClr val="tx2"/>
                          </a:solidFill>
                        </a:rPr>
                        <a:t>Gold layer</a:t>
                      </a:r>
                      <a:endParaRPr lang="en-US" sz="1400" dirty="0"/>
                    </a:p>
                  </a:txBody>
                  <a:tcPr marL="109728" marR="109728" marT="0" marB="0" anchor="ctr">
                    <a:lnL w="12700" cap="flat" cmpd="sng" algn="ctr">
                      <a:solidFill>
                        <a:srgbClr val="D5E3DA"/>
                      </a:solidFill>
                      <a:prstDash val="solid"/>
                      <a:round/>
                      <a:headEnd type="none" w="med" len="med"/>
                      <a:tailEnd type="none" w="med" len="med"/>
                    </a:lnL>
                    <a:lnR w="12700" cap="flat" cmpd="sng" algn="ctr">
                      <a:solidFill>
                        <a:srgbClr val="D5E3DA"/>
                      </a:solidFill>
                      <a:prstDash val="solid"/>
                      <a:round/>
                      <a:headEnd type="none" w="med" len="med"/>
                      <a:tailEnd type="none" w="med" len="med"/>
                    </a:lnR>
                    <a:lnT w="12700" cap="flat" cmpd="sng" algn="ctr">
                      <a:solidFill>
                        <a:srgbClr val="D5E3DA"/>
                      </a:solidFill>
                      <a:prstDash val="solid"/>
                      <a:round/>
                      <a:headEnd type="none" w="med" len="med"/>
                      <a:tailEnd type="none" w="med" len="med"/>
                    </a:lnT>
                    <a:lnB w="12700" cap="flat" cmpd="sng" algn="ctr">
                      <a:solidFill>
                        <a:srgbClr val="D5E3DA"/>
                      </a:solidFill>
                      <a:prstDash val="solid"/>
                      <a:round/>
                      <a:headEnd type="none" w="med" len="med"/>
                      <a:tailEnd type="none" w="med" len="med"/>
                    </a:lnB>
                    <a:solidFill>
                      <a:schemeClr val="bg2"/>
                    </a:solidFill>
                  </a:tcPr>
                </a:tc>
                <a:tc>
                  <a:txBody>
                    <a:bodyPr/>
                    <a:lstStyle/>
                    <a:p>
                      <a:pPr indent="0" marL="0">
                        <a:buNone/>
                      </a:pPr>
                      <a:r>
                        <a:rPr lang="en-US" sz="1200" dirty="0">
                          <a:solidFill>
                            <a:schemeClr val="accent6"/>
                          </a:solidFill>
                        </a:rPr>
                        <a:t>Row ids, citation registry</a:t>
                      </a:r>
                      <a:endParaRPr lang="en-US" sz="1200" dirty="0"/>
                    </a:p>
                  </a:txBody>
                  <a:tcPr marL="109728" marR="109728" marT="0" marB="0" anchor="ctr">
                    <a:lnL w="12700" cap="flat" cmpd="sng" algn="ctr">
                      <a:solidFill>
                        <a:srgbClr val="D5E3DA"/>
                      </a:solidFill>
                      <a:prstDash val="solid"/>
                      <a:round/>
                      <a:headEnd type="none" w="med" len="med"/>
                      <a:tailEnd type="none" w="med" len="med"/>
                    </a:lnL>
                    <a:lnR w="12700" cap="flat" cmpd="sng" algn="ctr">
                      <a:solidFill>
                        <a:srgbClr val="D5E3DA"/>
                      </a:solidFill>
                      <a:prstDash val="solid"/>
                      <a:round/>
                      <a:headEnd type="none" w="med" len="med"/>
                      <a:tailEnd type="none" w="med" len="med"/>
                    </a:lnR>
                    <a:lnT w="12700" cap="flat" cmpd="sng" algn="ctr">
                      <a:solidFill>
                        <a:srgbClr val="D5E3DA"/>
                      </a:solidFill>
                      <a:prstDash val="solid"/>
                      <a:round/>
                      <a:headEnd type="none" w="med" len="med"/>
                      <a:tailEnd type="none" w="med" len="med"/>
                    </a:lnT>
                    <a:lnB w="12700" cap="flat" cmpd="sng" algn="ctr">
                      <a:solidFill>
                        <a:srgbClr val="D5E3DA"/>
                      </a:solidFill>
                      <a:prstDash val="solid"/>
                      <a:round/>
                      <a:headEnd type="none" w="med" len="med"/>
                      <a:tailEnd type="none" w="med" len="med"/>
                    </a:lnB>
                  </a:tcPr>
                </a:tc>
                <a:tc>
                  <a:txBody>
                    <a:bodyPr/>
                    <a:lstStyle/>
                    <a:p>
                      <a:pPr indent="0" marL="0">
                        <a:buNone/>
                      </a:pPr>
                      <a:r>
                        <a:rPr lang="en-US" sz="1200" dirty="0">
                          <a:solidFill>
                            <a:schemeClr val="accent6"/>
                          </a:solidFill>
                        </a:rPr>
                        <a:t>The only layer the agent may quote; gaps stay gaps</a:t>
                      </a:r>
                      <a:endParaRPr lang="en-US" sz="1200" dirty="0"/>
                    </a:p>
                  </a:txBody>
                  <a:tcPr marL="109728" marR="109728" marT="0" marB="0" anchor="ctr">
                    <a:lnL w="12700" cap="flat" cmpd="sng" algn="ctr">
                      <a:solidFill>
                        <a:srgbClr val="D5E3DA"/>
                      </a:solidFill>
                      <a:prstDash val="solid"/>
                      <a:round/>
                      <a:headEnd type="none" w="med" len="med"/>
                      <a:tailEnd type="none" w="med" len="med"/>
                    </a:lnL>
                    <a:lnR w="12700" cap="flat" cmpd="sng" algn="ctr">
                      <a:solidFill>
                        <a:srgbClr val="D5E3DA"/>
                      </a:solidFill>
                      <a:prstDash val="solid"/>
                      <a:round/>
                      <a:headEnd type="none" w="med" len="med"/>
                      <a:tailEnd type="none" w="med" len="med"/>
                    </a:lnR>
                    <a:lnT w="12700" cap="flat" cmpd="sng" algn="ctr">
                      <a:solidFill>
                        <a:srgbClr val="D5E3DA"/>
                      </a:solidFill>
                      <a:prstDash val="solid"/>
                      <a:round/>
                      <a:headEnd type="none" w="med" len="med"/>
                      <a:tailEnd type="none" w="med" len="med"/>
                    </a:lnT>
                    <a:lnB w="12700" cap="flat" cmpd="sng" algn="ctr">
                      <a:solidFill>
                        <a:srgbClr val="D5E3DA"/>
                      </a:solidFill>
                      <a:prstDash val="solid"/>
                      <a:round/>
                      <a:headEnd type="none" w="med" len="med"/>
                      <a:tailEnd type="none" w="med" len="med"/>
                    </a:lnB>
                  </a:tcPr>
                </a:tc>
              </a:tr>
              <a:tr h="566928">
                <a:tc>
                  <a:txBody>
                    <a:bodyPr/>
                    <a:lstStyle/>
                    <a:p>
                      <a:pPr indent="0" marL="0">
                        <a:buNone/>
                      </a:pPr>
                      <a:r>
                        <a:rPr lang="en-US" sz="1400" b="1" dirty="0">
                          <a:solidFill>
                            <a:schemeClr val="tx2"/>
                          </a:solidFill>
                        </a:rPr>
                        <a:t>Modeling</a:t>
                      </a:r>
                      <a:endParaRPr lang="en-US" sz="1400" dirty="0"/>
                    </a:p>
                  </a:txBody>
                  <a:tcPr marL="109728" marR="109728" marT="0" marB="0" anchor="ctr">
                    <a:lnL w="12700" cap="flat" cmpd="sng" algn="ctr">
                      <a:solidFill>
                        <a:srgbClr val="D5E3DA"/>
                      </a:solidFill>
                      <a:prstDash val="solid"/>
                      <a:round/>
                      <a:headEnd type="none" w="med" len="med"/>
                      <a:tailEnd type="none" w="med" len="med"/>
                    </a:lnL>
                    <a:lnR w="12700" cap="flat" cmpd="sng" algn="ctr">
                      <a:solidFill>
                        <a:srgbClr val="D5E3DA"/>
                      </a:solidFill>
                      <a:prstDash val="solid"/>
                      <a:round/>
                      <a:headEnd type="none" w="med" len="med"/>
                      <a:tailEnd type="none" w="med" len="med"/>
                    </a:lnR>
                    <a:lnT w="12700" cap="flat" cmpd="sng" algn="ctr">
                      <a:solidFill>
                        <a:srgbClr val="D5E3DA"/>
                      </a:solidFill>
                      <a:prstDash val="solid"/>
                      <a:round/>
                      <a:headEnd type="none" w="med" len="med"/>
                      <a:tailEnd type="none" w="med" len="med"/>
                    </a:lnT>
                    <a:lnB w="12700" cap="flat" cmpd="sng" algn="ctr">
                      <a:solidFill>
                        <a:srgbClr val="D5E3DA"/>
                      </a:solidFill>
                      <a:prstDash val="solid"/>
                      <a:round/>
                      <a:headEnd type="none" w="med" len="med"/>
                      <a:tailEnd type="none" w="med" len="med"/>
                    </a:lnB>
                    <a:solidFill>
                      <a:schemeClr val="bg2"/>
                    </a:solidFill>
                  </a:tcPr>
                </a:tc>
                <a:tc>
                  <a:txBody>
                    <a:bodyPr/>
                    <a:lstStyle/>
                    <a:p>
                      <a:pPr indent="0" marL="0">
                        <a:buNone/>
                      </a:pPr>
                      <a:r>
                        <a:rPr lang="en-US" sz="1200" dirty="0">
                          <a:solidFill>
                            <a:schemeClr val="accent6"/>
                          </a:solidFill>
                        </a:rPr>
                        <a:t>HAR ridge (alpha = 10), pre-registered</a:t>
                      </a:r>
                      <a:endParaRPr lang="en-US" sz="1200" dirty="0"/>
                    </a:p>
                  </a:txBody>
                  <a:tcPr marL="109728" marR="109728" marT="0" marB="0" anchor="ctr">
                    <a:lnL w="12700" cap="flat" cmpd="sng" algn="ctr">
                      <a:solidFill>
                        <a:srgbClr val="D5E3DA"/>
                      </a:solidFill>
                      <a:prstDash val="solid"/>
                      <a:round/>
                      <a:headEnd type="none" w="med" len="med"/>
                      <a:tailEnd type="none" w="med" len="med"/>
                    </a:lnL>
                    <a:lnR w="12700" cap="flat" cmpd="sng" algn="ctr">
                      <a:solidFill>
                        <a:srgbClr val="D5E3DA"/>
                      </a:solidFill>
                      <a:prstDash val="solid"/>
                      <a:round/>
                      <a:headEnd type="none" w="med" len="med"/>
                      <a:tailEnd type="none" w="med" len="med"/>
                    </a:lnR>
                    <a:lnT w="12700" cap="flat" cmpd="sng" algn="ctr">
                      <a:solidFill>
                        <a:srgbClr val="D5E3DA"/>
                      </a:solidFill>
                      <a:prstDash val="solid"/>
                      <a:round/>
                      <a:headEnd type="none" w="med" len="med"/>
                      <a:tailEnd type="none" w="med" len="med"/>
                    </a:lnT>
                    <a:lnB w="12700" cap="flat" cmpd="sng" algn="ctr">
                      <a:solidFill>
                        <a:srgbClr val="D5E3DA"/>
                      </a:solidFill>
                      <a:prstDash val="solid"/>
                      <a:round/>
                      <a:headEnd type="none" w="med" len="med"/>
                      <a:tailEnd type="none" w="med" len="med"/>
                    </a:lnB>
                  </a:tcPr>
                </a:tc>
                <a:tc>
                  <a:txBody>
                    <a:bodyPr/>
                    <a:lstStyle/>
                    <a:p>
                      <a:pPr indent="0" marL="0">
                        <a:buNone/>
                      </a:pPr>
                      <a:r>
                        <a:rPr lang="en-US" sz="1200" dirty="0">
                          <a:solidFill>
                            <a:schemeClr val="accent6"/>
                          </a:solidFill>
                        </a:rPr>
                        <a:t>Next-month Brent volatility: 7.27% lower MAE than baseline</a:t>
                      </a:r>
                      <a:endParaRPr lang="en-US" sz="1200" dirty="0"/>
                    </a:p>
                  </a:txBody>
                  <a:tcPr marL="109728" marR="109728" marT="0" marB="0" anchor="ctr">
                    <a:lnL w="12700" cap="flat" cmpd="sng" algn="ctr">
                      <a:solidFill>
                        <a:srgbClr val="D5E3DA"/>
                      </a:solidFill>
                      <a:prstDash val="solid"/>
                      <a:round/>
                      <a:headEnd type="none" w="med" len="med"/>
                      <a:tailEnd type="none" w="med" len="med"/>
                    </a:lnL>
                    <a:lnR w="12700" cap="flat" cmpd="sng" algn="ctr">
                      <a:solidFill>
                        <a:srgbClr val="D5E3DA"/>
                      </a:solidFill>
                      <a:prstDash val="solid"/>
                      <a:round/>
                      <a:headEnd type="none" w="med" len="med"/>
                      <a:tailEnd type="none" w="med" len="med"/>
                    </a:lnR>
                    <a:lnT w="12700" cap="flat" cmpd="sng" algn="ctr">
                      <a:solidFill>
                        <a:srgbClr val="D5E3DA"/>
                      </a:solidFill>
                      <a:prstDash val="solid"/>
                      <a:round/>
                      <a:headEnd type="none" w="med" len="med"/>
                      <a:tailEnd type="none" w="med" len="med"/>
                    </a:lnT>
                    <a:lnB w="12700" cap="flat" cmpd="sng" algn="ctr">
                      <a:solidFill>
                        <a:srgbClr val="D5E3DA"/>
                      </a:solidFill>
                      <a:prstDash val="solid"/>
                      <a:round/>
                      <a:headEnd type="none" w="med" len="med"/>
                      <a:tailEnd type="none" w="med" len="med"/>
                    </a:lnB>
                  </a:tcPr>
                </a:tc>
              </a:tr>
              <a:tr h="566928">
                <a:tc>
                  <a:txBody>
                    <a:bodyPr/>
                    <a:lstStyle/>
                    <a:p>
                      <a:pPr indent="0" marL="0">
                        <a:buNone/>
                      </a:pPr>
                      <a:r>
                        <a:rPr lang="en-US" sz="1400" b="1" dirty="0">
                          <a:solidFill>
                            <a:schemeClr val="tx2"/>
                          </a:solidFill>
                        </a:rPr>
                        <a:t>Dashboard / App</a:t>
                      </a:r>
                      <a:endParaRPr lang="en-US" sz="1400" dirty="0"/>
                    </a:p>
                  </a:txBody>
                  <a:tcPr marL="109728" marR="109728" marT="0" marB="0" anchor="ctr">
                    <a:lnL w="12700" cap="flat" cmpd="sng" algn="ctr">
                      <a:solidFill>
                        <a:srgbClr val="D5E3DA"/>
                      </a:solidFill>
                      <a:prstDash val="solid"/>
                      <a:round/>
                      <a:headEnd type="none" w="med" len="med"/>
                      <a:tailEnd type="none" w="med" len="med"/>
                    </a:lnL>
                    <a:lnR w="12700" cap="flat" cmpd="sng" algn="ctr">
                      <a:solidFill>
                        <a:srgbClr val="D5E3DA"/>
                      </a:solidFill>
                      <a:prstDash val="solid"/>
                      <a:round/>
                      <a:headEnd type="none" w="med" len="med"/>
                      <a:tailEnd type="none" w="med" len="med"/>
                    </a:lnR>
                    <a:lnT w="12700" cap="flat" cmpd="sng" algn="ctr">
                      <a:solidFill>
                        <a:srgbClr val="D5E3DA"/>
                      </a:solidFill>
                      <a:prstDash val="solid"/>
                      <a:round/>
                      <a:headEnd type="none" w="med" len="med"/>
                      <a:tailEnd type="none" w="med" len="med"/>
                    </a:lnT>
                    <a:lnB w="12700" cap="flat" cmpd="sng" algn="ctr">
                      <a:solidFill>
                        <a:srgbClr val="D5E3DA"/>
                      </a:solidFill>
                      <a:prstDash val="solid"/>
                      <a:round/>
                      <a:headEnd type="none" w="med" len="med"/>
                      <a:tailEnd type="none" w="med" len="med"/>
                    </a:lnB>
                    <a:solidFill>
                      <a:schemeClr val="bg2"/>
                    </a:solidFill>
                  </a:tcPr>
                </a:tc>
                <a:tc>
                  <a:txBody>
                    <a:bodyPr/>
                    <a:lstStyle/>
                    <a:p>
                      <a:pPr indent="0" marL="0">
                        <a:buNone/>
                      </a:pPr>
                      <a:r>
                        <a:rPr lang="en-US" sz="1200" dirty="0">
                          <a:solidFill>
                            <a:schemeClr val="accent6"/>
                          </a:solidFill>
                        </a:rPr>
                        <a:t>FastAPI, Prefect, Chroma / TF-IDF</a:t>
                      </a:r>
                      <a:endParaRPr lang="en-US" sz="1200" dirty="0"/>
                    </a:p>
                  </a:txBody>
                  <a:tcPr marL="109728" marR="109728" marT="0" marB="0" anchor="ctr">
                    <a:lnL w="12700" cap="flat" cmpd="sng" algn="ctr">
                      <a:solidFill>
                        <a:srgbClr val="D5E3DA"/>
                      </a:solidFill>
                      <a:prstDash val="solid"/>
                      <a:round/>
                      <a:headEnd type="none" w="med" len="med"/>
                      <a:tailEnd type="none" w="med" len="med"/>
                    </a:lnL>
                    <a:lnR w="12700" cap="flat" cmpd="sng" algn="ctr">
                      <a:solidFill>
                        <a:srgbClr val="D5E3DA"/>
                      </a:solidFill>
                      <a:prstDash val="solid"/>
                      <a:round/>
                      <a:headEnd type="none" w="med" len="med"/>
                      <a:tailEnd type="none" w="med" len="med"/>
                    </a:lnR>
                    <a:lnT w="12700" cap="flat" cmpd="sng" algn="ctr">
                      <a:solidFill>
                        <a:srgbClr val="D5E3DA"/>
                      </a:solidFill>
                      <a:prstDash val="solid"/>
                      <a:round/>
                      <a:headEnd type="none" w="med" len="med"/>
                      <a:tailEnd type="none" w="med" len="med"/>
                    </a:lnT>
                    <a:lnB w="12700" cap="flat" cmpd="sng" algn="ctr">
                      <a:solidFill>
                        <a:srgbClr val="D5E3DA"/>
                      </a:solidFill>
                      <a:prstDash val="solid"/>
                      <a:round/>
                      <a:headEnd type="none" w="med" len="med"/>
                      <a:tailEnd type="none" w="med" len="med"/>
                    </a:lnB>
                  </a:tcPr>
                </a:tc>
                <a:tc>
                  <a:txBody>
                    <a:bodyPr/>
                    <a:lstStyle/>
                    <a:p>
                      <a:pPr indent="0" marL="0">
                        <a:buNone/>
                      </a:pPr>
                      <a:r>
                        <a:rPr lang="en-US" sz="1200" dirty="0">
                          <a:solidFill>
                            <a:schemeClr val="accent6"/>
                          </a:solidFill>
                        </a:rPr>
                        <a:t>Hourly pipeline; EN + Urdu dashboard; refuses when unsupported</a:t>
                      </a:r>
                      <a:endParaRPr lang="en-US" sz="1200" dirty="0"/>
                    </a:p>
                  </a:txBody>
                  <a:tcPr marL="109728" marR="109728" marT="0" marB="0" anchor="ctr">
                    <a:lnL w="12700" cap="flat" cmpd="sng" algn="ctr">
                      <a:solidFill>
                        <a:srgbClr val="D5E3DA"/>
                      </a:solidFill>
                      <a:prstDash val="solid"/>
                      <a:round/>
                      <a:headEnd type="none" w="med" len="med"/>
                      <a:tailEnd type="none" w="med" len="med"/>
                    </a:lnL>
                    <a:lnR w="12700" cap="flat" cmpd="sng" algn="ctr">
                      <a:solidFill>
                        <a:srgbClr val="D5E3DA"/>
                      </a:solidFill>
                      <a:prstDash val="solid"/>
                      <a:round/>
                      <a:headEnd type="none" w="med" len="med"/>
                      <a:tailEnd type="none" w="med" len="med"/>
                    </a:lnR>
                    <a:lnT w="12700" cap="flat" cmpd="sng" algn="ctr">
                      <a:solidFill>
                        <a:srgbClr val="D5E3DA"/>
                      </a:solidFill>
                      <a:prstDash val="solid"/>
                      <a:round/>
                      <a:headEnd type="none" w="med" len="med"/>
                      <a:tailEnd type="none" w="med" len="med"/>
                    </a:lnT>
                    <a:lnB w="12700" cap="flat" cmpd="sng" algn="ctr">
                      <a:solidFill>
                        <a:srgbClr val="D5E3DA"/>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7772400" y="4754880"/>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2"/>
                </a:solidFill>
              </a:rPr>
              <a:t>Dashboard / App Views</a:t>
            </a:r>
            <a:endParaRPr lang="en-US" sz="3200" dirty="0"/>
          </a:p>
        </p:txBody>
      </p:sp>
      <p:pic>
        <p:nvPicPr>
          <p:cNvPr id="30" name="Overview" descr="TailDaam dashboard screenshot: Overview"/>
          <p:cNvPicPr>
            <a:picLocks noChangeAspect="1"/>
          </p:cNvPicPr>
          <p:nvPr/>
        </p:nvPicPr>
        <p:blipFill>
          <a:blip r:embed="rId3"/>
          <a:stretch>
            <a:fillRect/>
          </a:stretch>
        </p:blipFill>
        <p:spPr>
          <a:xfrm>
            <a:off x="457200" y="1188720"/>
            <a:ext cx="4937760" cy="2926080"/>
          </a:xfrm>
          <a:prstGeom prst="roundRect">
            <a:avLst>
              <a:gd name="adj" fmla="val 3125"/>
            </a:avLst>
          </a:prstGeom>
          <a:ln w="19050">
            <a:solidFill>
              <a:schemeClr val="accent1"/>
            </a:solidFill>
          </a:ln>
        </p:spPr>
      </p:pic>
      <p:sp>
        <p:nvSpPr>
          <p:cNvPr id="31" name="Caption 31"/>
          <p:cNvSpPr/>
          <p:nvPr/>
        </p:nvSpPr>
        <p:spPr>
          <a:xfrm>
            <a:off x="566928" y="3730752"/>
            <a:ext cx="1737360" cy="274320"/>
          </a:xfrm>
          <a:prstGeom prst="roundRect">
            <a:avLst>
              <a:gd name="adj" fmla="val 30000"/>
            </a:avLst>
          </a:prstGeom>
          <a:solidFill>
            <a:schemeClr val="tx2"/>
          </a:solidFill>
          <a:ln>
            <a:noFill/>
          </a:ln>
        </p:spPr>
        <p:txBody>
          <a:bodyPr wrap="square" lIns="91440" tIns="0" rIns="91440" bIns="0" rtlCol="0" anchor="ctr"/>
          <a:lstStyle/>
          <a:p>
            <a:pPr algn="ctr"/>
            <a:r>
              <a:rPr lang="en-US" sz="1200" b="1" dirty="0">
                <a:solidFill>
                  <a:schemeClr val="bg1"/>
                </a:solidFill>
              </a:rPr>
              <a:t>Page 1: Overview</a:t>
            </a:r>
          </a:p>
        </p:txBody>
      </p:sp>
      <p:pic>
        <p:nvPicPr>
          <p:cNvPr id="32" name="Model" descr="TailDaam dashboard screenshot: Model"/>
          <p:cNvPicPr>
            <a:picLocks noChangeAspect="1"/>
          </p:cNvPicPr>
          <p:nvPr/>
        </p:nvPicPr>
        <p:blipFill>
          <a:blip r:embed="rId4"/>
          <a:stretch>
            <a:fillRect/>
          </a:stretch>
        </p:blipFill>
        <p:spPr>
          <a:xfrm>
            <a:off x="5577840" y="1188720"/>
            <a:ext cx="3108960" cy="1371600"/>
          </a:xfrm>
          <a:prstGeom prst="roundRect">
            <a:avLst>
              <a:gd name="adj" fmla="val 6667"/>
            </a:avLst>
          </a:prstGeom>
          <a:ln w="19050">
            <a:solidFill>
              <a:schemeClr val="accent1"/>
            </a:solidFill>
          </a:ln>
        </p:spPr>
      </p:pic>
      <p:sp>
        <p:nvSpPr>
          <p:cNvPr id="33" name="Caption 33"/>
          <p:cNvSpPr/>
          <p:nvPr/>
        </p:nvSpPr>
        <p:spPr>
          <a:xfrm>
            <a:off x="5687568" y="2176272"/>
            <a:ext cx="1463040" cy="274320"/>
          </a:xfrm>
          <a:prstGeom prst="roundRect">
            <a:avLst>
              <a:gd name="adj" fmla="val 30000"/>
            </a:avLst>
          </a:prstGeom>
          <a:solidFill>
            <a:schemeClr val="tx2"/>
          </a:solidFill>
          <a:ln>
            <a:noFill/>
          </a:ln>
        </p:spPr>
        <p:txBody>
          <a:bodyPr wrap="square" lIns="91440" tIns="0" rIns="91440" bIns="0" rtlCol="0" anchor="ctr"/>
          <a:lstStyle/>
          <a:p>
            <a:pPr algn="ctr"/>
            <a:r>
              <a:rPr lang="en-US" sz="1200" b="1" dirty="0">
                <a:solidFill>
                  <a:schemeClr val="bg1"/>
                </a:solidFill>
              </a:rPr>
              <a:t>Page 2: Model</a:t>
            </a:r>
          </a:p>
        </p:txBody>
      </p:sp>
      <p:pic>
        <p:nvPicPr>
          <p:cNvPr id="34" name="Insight agent" descr="TailDaam dashboard screenshot: Insight agent"/>
          <p:cNvPicPr>
            <a:picLocks noChangeAspect="1"/>
          </p:cNvPicPr>
          <p:nvPr/>
        </p:nvPicPr>
        <p:blipFill>
          <a:blip r:embed="rId5"/>
          <a:stretch>
            <a:fillRect/>
          </a:stretch>
        </p:blipFill>
        <p:spPr>
          <a:xfrm>
            <a:off x="5577840" y="2743200"/>
            <a:ext cx="3108960" cy="1371600"/>
          </a:xfrm>
          <a:prstGeom prst="roundRect">
            <a:avLst>
              <a:gd name="adj" fmla="val 6667"/>
            </a:avLst>
          </a:prstGeom>
          <a:ln w="19050">
            <a:solidFill>
              <a:schemeClr val="accent1"/>
            </a:solidFill>
          </a:ln>
        </p:spPr>
      </p:pic>
      <p:sp>
        <p:nvSpPr>
          <p:cNvPr id="35" name="Caption 35"/>
          <p:cNvSpPr/>
          <p:nvPr/>
        </p:nvSpPr>
        <p:spPr>
          <a:xfrm>
            <a:off x="5687568" y="3730752"/>
            <a:ext cx="1920240" cy="274320"/>
          </a:xfrm>
          <a:prstGeom prst="roundRect">
            <a:avLst>
              <a:gd name="adj" fmla="val 30000"/>
            </a:avLst>
          </a:prstGeom>
          <a:solidFill>
            <a:schemeClr val="tx2"/>
          </a:solidFill>
          <a:ln>
            <a:noFill/>
          </a:ln>
        </p:spPr>
        <p:txBody>
          <a:bodyPr wrap="square" lIns="91440" tIns="0" rIns="91440" bIns="0" rtlCol="0" anchor="ctr"/>
          <a:lstStyle/>
          <a:p>
            <a:pPr algn="ctr"/>
            <a:r>
              <a:rPr lang="en-US" sz="1200" b="1" dirty="0">
                <a:solidFill>
                  <a:schemeClr val="bg1"/>
                </a:solidFill>
              </a:rPr>
              <a:t>Page 3: Insight agent</a:t>
            </a:r>
          </a:p>
        </p:txBody>
      </p:sp>
      <p:sp>
        <p:nvSpPr>
          <p:cNvPr id="12" name="Text 10"/>
          <p:cNvSpPr txBox="1"/>
          <p:nvPr/>
        </p:nvSpPr>
        <p:spPr>
          <a:xfrm>
            <a:off x="457200" y="4251960"/>
            <a:ext cx="8229600" cy="274320"/>
          </a:xfrm>
          <a:prstGeom prst="rect">
            <a:avLst/>
          </a:prstGeom>
          <a:noFill/>
          <a:ln/>
        </p:spPr>
        <p:txBody>
          <a:bodyPr wrap="square" lIns="0" tIns="0" rIns="0" bIns="0" rtlCol="0" anchor="ctr"/>
          <a:lstStyle/>
          <a:p>
            <a:pPr indent="0" marL="0">
              <a:buNone/>
            </a:pPr>
            <a:r>
              <a:rPr lang="en-US" sz="1200" dirty="0">
                <a:solidFill>
                  <a:schemeClr val="accent6"/>
                </a:solidFill>
              </a:rPr>
              <a:t>Live: danyalabbas-hack-insight.static.hf.space   |   Repo: github.com/DanyalAbbas/hack-insight</a:t>
            </a:r>
            <a:endParaRPr lang="en-US" sz="1200" dirty="0"/>
          </a:p>
        </p:txBody>
      </p:sp>
      <p:sp>
        <p:nvSpPr>
          <p:cNvPr id="25" name="Slide Number Placeholder 0"/>
          <p:cNvSpPr>
            <a:spLocks noGrp="1"/>
          </p:cNvSpPr>
          <p:nvPr>
            <p:ph type="sldNum" sz="quarter" idx="4294967295"/>
          </p:nvPr>
        </p:nvSpPr>
        <p:spPr>
          <a:xfrm>
            <a:off x="7772400" y="4754880"/>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2"/>
                </a:solidFill>
              </a:rPr>
              <a:t>Conclusion</a:t>
            </a:r>
            <a:endParaRPr lang="en-US" sz="3200" dirty="0"/>
          </a:p>
        </p:txBody>
      </p:sp>
      <p:sp>
        <p:nvSpPr>
          <p:cNvPr id="3" name="Finding card 1"/>
          <p:cNvSpPr/>
          <p:nvPr/>
        </p:nvSpPr>
        <p:spPr>
          <a:xfrm>
            <a:off x="457200" y="1188720"/>
            <a:ext cx="5120640" cy="1005840"/>
          </a:xfrm>
          <a:prstGeom prst="roundRect">
            <a:avLst>
              <a:gd name="adj" fmla="val 9091"/>
            </a:avLst>
          </a:prstGeom>
          <a:solidFill>
            <a:schemeClr val="bg2"/>
          </a:solidFill>
          <a:ln/>
        </p:spPr>
      </p:sp>
      <p:sp>
        <p:nvSpPr>
          <p:cNvPr id="4" name="Finding number 1"/>
          <p:cNvSpPr txBox="1"/>
          <p:nvPr/>
        </p:nvSpPr>
        <p:spPr>
          <a:xfrm>
            <a:off x="640080" y="1508760"/>
            <a:ext cx="365760" cy="36576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ext 3"/>
          <p:cNvSpPr txBox="1"/>
          <p:nvPr/>
        </p:nvSpPr>
        <p:spPr>
          <a:xfrm>
            <a:off x="1188720" y="1417320"/>
            <a:ext cx="4206240" cy="274320"/>
          </a:xfrm>
          <a:prstGeom prst="rect">
            <a:avLst/>
          </a:prstGeom>
          <a:noFill/>
          <a:ln/>
        </p:spPr>
        <p:txBody>
          <a:bodyPr wrap="square" lIns="0" tIns="0" rIns="0" bIns="0" rtlCol="0" anchor="ctr"/>
          <a:lstStyle/>
          <a:p>
            <a:pPr indent="0" marL="0">
              <a:buNone/>
            </a:pPr>
            <a:r>
              <a:rPr lang="en-US" sz="1400" b="1" dirty="0">
                <a:solidFill>
                  <a:schemeClr val="tx2"/>
                </a:solidFill>
              </a:rPr>
              <a:t>Beats the baseline</a:t>
            </a:r>
            <a:endParaRPr lang="en-US" sz="1400" dirty="0"/>
          </a:p>
        </p:txBody>
      </p:sp>
      <p:sp>
        <p:nvSpPr>
          <p:cNvPr id="6" name="Text 4"/>
          <p:cNvSpPr txBox="1"/>
          <p:nvPr/>
        </p:nvSpPr>
        <p:spPr>
          <a:xfrm>
            <a:off x="1188720" y="1737360"/>
            <a:ext cx="4206240" cy="274320"/>
          </a:xfrm>
          <a:prstGeom prst="rect">
            <a:avLst/>
          </a:prstGeom>
          <a:noFill/>
          <a:ln/>
        </p:spPr>
        <p:txBody>
          <a:bodyPr wrap="square" lIns="0" tIns="0" rIns="0" bIns="0" rtlCol="0" anchor="ctr"/>
          <a:lstStyle/>
          <a:p>
            <a:pPr indent="0" marL="0">
              <a:buNone/>
            </a:pPr>
            <a:r>
              <a:rPr lang="en-US" sz="1200" dirty="0">
                <a:solidFill>
                  <a:schemeClr val="accent6"/>
                </a:solidFill>
              </a:rPr>
              <a:t>7.27% lower MAE than persistence (16.51 vs 17.80) on 93 held-out months</a:t>
            </a:r>
            <a:endParaRPr lang="en-US" sz="1200" dirty="0"/>
          </a:p>
        </p:txBody>
      </p:sp>
      <p:sp>
        <p:nvSpPr>
          <p:cNvPr id="7" name="Finding card 2"/>
          <p:cNvSpPr/>
          <p:nvPr/>
        </p:nvSpPr>
        <p:spPr>
          <a:xfrm>
            <a:off x="457200" y="2331720"/>
            <a:ext cx="5120640" cy="1005840"/>
          </a:xfrm>
          <a:prstGeom prst="roundRect">
            <a:avLst>
              <a:gd name="adj" fmla="val 9091"/>
            </a:avLst>
          </a:prstGeom>
          <a:solidFill>
            <a:schemeClr val="bg2"/>
          </a:solidFill>
          <a:ln/>
        </p:spPr>
      </p:sp>
      <p:sp>
        <p:nvSpPr>
          <p:cNvPr id="8" name="Finding number 2"/>
          <p:cNvSpPr txBox="1"/>
          <p:nvPr/>
        </p:nvSpPr>
        <p:spPr>
          <a:xfrm>
            <a:off x="640080" y="2651760"/>
            <a:ext cx="365760" cy="36576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Text 7"/>
          <p:cNvSpPr txBox="1"/>
          <p:nvPr/>
        </p:nvSpPr>
        <p:spPr>
          <a:xfrm>
            <a:off x="1188720" y="2560320"/>
            <a:ext cx="4206240" cy="274320"/>
          </a:xfrm>
          <a:prstGeom prst="rect">
            <a:avLst/>
          </a:prstGeom>
          <a:noFill/>
          <a:ln/>
        </p:spPr>
        <p:txBody>
          <a:bodyPr wrap="square" lIns="0" tIns="0" rIns="0" bIns="0" rtlCol="0" anchor="ctr"/>
          <a:lstStyle/>
          <a:p>
            <a:pPr indent="0" marL="0">
              <a:buNone/>
            </a:pPr>
            <a:r>
              <a:rPr lang="en-US" sz="1400" b="1" dirty="0">
                <a:solidFill>
                  <a:schemeClr val="tx2"/>
                </a:solidFill>
              </a:rPr>
              <a:t>Honest intervals</a:t>
            </a:r>
            <a:endParaRPr lang="en-US" sz="1400" dirty="0"/>
          </a:p>
        </p:txBody>
      </p:sp>
      <p:sp>
        <p:nvSpPr>
          <p:cNvPr id="10" name="Text 8"/>
          <p:cNvSpPr txBox="1"/>
          <p:nvPr/>
        </p:nvSpPr>
        <p:spPr>
          <a:xfrm>
            <a:off x="1188720" y="2880360"/>
            <a:ext cx="4206240" cy="274320"/>
          </a:xfrm>
          <a:prstGeom prst="rect">
            <a:avLst/>
          </a:prstGeom>
          <a:noFill/>
          <a:ln/>
        </p:spPr>
        <p:txBody>
          <a:bodyPr wrap="square" lIns="0" tIns="0" rIns="0" bIns="0" rtlCol="0" anchor="ctr"/>
          <a:lstStyle/>
          <a:p>
            <a:pPr indent="0" marL="0">
              <a:buNone/>
            </a:pPr>
            <a:r>
              <a:rPr lang="en-US" sz="1200" dirty="0">
                <a:solidFill>
                  <a:schemeClr val="accent6"/>
                </a:solidFill>
              </a:rPr>
              <a:t>90% prediction interval covers 89.25% of held-out months</a:t>
            </a:r>
            <a:endParaRPr lang="en-US" sz="1200" dirty="0"/>
          </a:p>
        </p:txBody>
      </p:sp>
      <p:sp>
        <p:nvSpPr>
          <p:cNvPr id="11" name="Finding card 3"/>
          <p:cNvSpPr/>
          <p:nvPr/>
        </p:nvSpPr>
        <p:spPr>
          <a:xfrm>
            <a:off x="457200" y="3474720"/>
            <a:ext cx="5120640" cy="1005840"/>
          </a:xfrm>
          <a:prstGeom prst="roundRect">
            <a:avLst>
              <a:gd name="adj" fmla="val 9091"/>
            </a:avLst>
          </a:prstGeom>
          <a:solidFill>
            <a:schemeClr val="bg2"/>
          </a:solidFill>
          <a:ln/>
        </p:spPr>
      </p:sp>
      <p:sp>
        <p:nvSpPr>
          <p:cNvPr id="12" name="Finding number 3"/>
          <p:cNvSpPr txBox="1"/>
          <p:nvPr/>
        </p:nvSpPr>
        <p:spPr>
          <a:xfrm>
            <a:off x="640080" y="3794760"/>
            <a:ext cx="365760" cy="36576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3" name="Text 11"/>
          <p:cNvSpPr txBox="1"/>
          <p:nvPr/>
        </p:nvSpPr>
        <p:spPr>
          <a:xfrm>
            <a:off x="1188720" y="3703320"/>
            <a:ext cx="4206240" cy="274320"/>
          </a:xfrm>
          <a:prstGeom prst="rect">
            <a:avLst/>
          </a:prstGeom>
          <a:noFill/>
          <a:ln/>
        </p:spPr>
        <p:txBody>
          <a:bodyPr wrap="square" lIns="0" tIns="0" rIns="0" bIns="0" rtlCol="0" anchor="ctr"/>
          <a:lstStyle/>
          <a:p>
            <a:pPr indent="0" marL="0">
              <a:buNone/>
            </a:pPr>
            <a:r>
              <a:rPr lang="en-US" sz="1400" b="1" dirty="0">
                <a:solidFill>
                  <a:schemeClr val="tx2"/>
                </a:solidFill>
              </a:rPr>
              <a:t>An agent that can say no</a:t>
            </a:r>
            <a:endParaRPr lang="en-US" sz="1400" dirty="0"/>
          </a:p>
        </p:txBody>
      </p:sp>
      <p:sp>
        <p:nvSpPr>
          <p:cNvPr id="14" name="Text 12"/>
          <p:cNvSpPr txBox="1"/>
          <p:nvPr/>
        </p:nvSpPr>
        <p:spPr>
          <a:xfrm>
            <a:off x="1188720" y="4023360"/>
            <a:ext cx="4206240" cy="274320"/>
          </a:xfrm>
          <a:prstGeom prst="rect">
            <a:avLst/>
          </a:prstGeom>
          <a:noFill/>
          <a:ln/>
        </p:spPr>
        <p:txBody>
          <a:bodyPr wrap="square" lIns="0" tIns="0" rIns="0" bIns="0" rtlCol="0" anchor="ctr"/>
          <a:lstStyle/>
          <a:p>
            <a:pPr indent="0" marL="0">
              <a:buNone/>
            </a:pPr>
            <a:r>
              <a:rPr lang="en-US" sz="1200" dirty="0">
                <a:solidFill>
                  <a:schemeClr val="accent6"/>
                </a:solidFill>
              </a:rPr>
              <a:t>Every number cites a row id; unsupported questions are refused</a:t>
            </a:r>
            <a:endParaRPr lang="en-US" sz="1200" dirty="0"/>
          </a:p>
        </p:txBody>
      </p:sp>
      <p:sp>
        <p:nvSpPr>
          <p:cNvPr id="15" name="Impact card"/>
          <p:cNvSpPr/>
          <p:nvPr/>
        </p:nvSpPr>
        <p:spPr>
          <a:xfrm>
            <a:off x="5852160" y="1188720"/>
            <a:ext cx="2834640" cy="1600200"/>
          </a:xfrm>
          <a:prstGeom prst="roundRect">
            <a:avLst>
              <a:gd name="adj" fmla="val 5714"/>
            </a:avLst>
          </a:prstGeom>
          <a:solidFill>
            <a:schemeClr val="tx2"/>
          </a:solidFill>
          <a:ln/>
        </p:spPr>
      </p:sp>
      <p:sp>
        <p:nvSpPr>
          <p:cNvPr id="16" name="Text 14"/>
          <p:cNvSpPr txBox="1"/>
          <p:nvPr/>
        </p:nvSpPr>
        <p:spPr>
          <a:xfrm>
            <a:off x="6080760" y="1371600"/>
            <a:ext cx="2377440" cy="274320"/>
          </a:xfrm>
          <a:prstGeom prst="rect">
            <a:avLst/>
          </a:prstGeom>
          <a:noFill/>
          <a:ln/>
        </p:spPr>
        <p:txBody>
          <a:bodyPr wrap="square" lIns="0" tIns="0" rIns="0" bIns="0" rtlCol="0" anchor="ctr"/>
          <a:lstStyle/>
          <a:p>
            <a:pPr indent="0" marL="0">
              <a:buNone/>
            </a:pPr>
            <a:r>
              <a:rPr lang="en-US" sz="1200" b="1" dirty="0">
                <a:solidFill>
                  <a:schemeClr val="accent4"/>
                </a:solidFill>
              </a:rPr>
              <a:t>IMPACT</a:t>
            </a:r>
            <a:endParaRPr lang="en-US" sz="1200" dirty="0"/>
          </a:p>
        </p:txBody>
      </p:sp>
      <p:sp>
        <p:nvSpPr>
          <p:cNvPr id="17" name="Text 15"/>
          <p:cNvSpPr txBox="1"/>
          <p:nvPr/>
        </p:nvSpPr>
        <p:spPr>
          <a:xfrm>
            <a:off x="6080760" y="1737360"/>
            <a:ext cx="2377440" cy="822960"/>
          </a:xfrm>
          <a:prstGeom prst="rect">
            <a:avLst/>
          </a:prstGeom>
          <a:noFill/>
          <a:ln/>
        </p:spPr>
        <p:txBody>
          <a:bodyPr wrap="square" lIns="0" tIns="0" rIns="0" bIns="0" rtlCol="0" anchor="t"/>
          <a:lstStyle/>
          <a:p>
            <a:pPr indent="0" marL="0">
              <a:buNone/>
            </a:pPr>
            <a:r>
              <a:rPr lang="en-US" sz="1400" dirty="0">
                <a:solidFill>
                  <a:schemeClr val="bg1"/>
                </a:solidFill>
              </a:rPr>
              <a:t>Journalists, analysts and fleets verify a price in seconds</a:t>
            </a:r>
            <a:endParaRPr lang="en-US" sz="1400" dirty="0"/>
          </a:p>
        </p:txBody>
      </p:sp>
      <p:sp>
        <p:nvSpPr>
          <p:cNvPr id="18" name="Future work card"/>
          <p:cNvSpPr/>
          <p:nvPr/>
        </p:nvSpPr>
        <p:spPr>
          <a:xfrm>
            <a:off x="5852160" y="2880360"/>
            <a:ext cx="2834640" cy="1600200"/>
          </a:xfrm>
          <a:prstGeom prst="roundRect">
            <a:avLst>
              <a:gd name="adj" fmla="val 5714"/>
            </a:avLst>
          </a:prstGeom>
          <a:solidFill>
            <a:schemeClr val="bg2"/>
          </a:solidFill>
          <a:ln/>
        </p:spPr>
      </p:sp>
      <p:sp>
        <p:nvSpPr>
          <p:cNvPr id="19" name="Text 17"/>
          <p:cNvSpPr txBox="1"/>
          <p:nvPr/>
        </p:nvSpPr>
        <p:spPr>
          <a:xfrm>
            <a:off x="6080760" y="3063240"/>
            <a:ext cx="2377440" cy="274320"/>
          </a:xfrm>
          <a:prstGeom prst="rect">
            <a:avLst/>
          </a:prstGeom>
          <a:noFill/>
          <a:ln/>
        </p:spPr>
        <p:txBody>
          <a:bodyPr wrap="square" lIns="0" tIns="0" rIns="0" bIns="0" rtlCol="0" anchor="ctr"/>
          <a:lstStyle/>
          <a:p>
            <a:pPr indent="0" marL="0">
              <a:buNone/>
            </a:pPr>
            <a:r>
              <a:rPr lang="en-US" sz="1200" b="1" dirty="0">
                <a:solidFill>
                  <a:schemeClr val="accent1"/>
                </a:solidFill>
              </a:rPr>
              <a:t>FUTURE WORK</a:t>
            </a:r>
            <a:endParaRPr lang="en-US" sz="1200" dirty="0"/>
          </a:p>
        </p:txBody>
      </p:sp>
      <p:sp>
        <p:nvSpPr>
          <p:cNvPr id="20" name="Text 18"/>
          <p:cNvSpPr txBox="1"/>
          <p:nvPr/>
        </p:nvSpPr>
        <p:spPr>
          <a:xfrm>
            <a:off x="6080760" y="3429000"/>
            <a:ext cx="2377440" cy="822960"/>
          </a:xfrm>
          <a:prstGeom prst="rect">
            <a:avLst/>
          </a:prstGeom>
          <a:noFill/>
          <a:ln/>
        </p:spPr>
        <p:txBody>
          <a:bodyPr wrap="square" lIns="0" tIns="0" rIns="0" bIns="0" rtlCol="0" anchor="t"/>
          <a:lstStyle/>
          <a:p>
            <a:pPr indent="0" marL="0">
              <a:buNone/>
            </a:pPr>
            <a:r>
              <a:rPr lang="en-US" sz="1400" dirty="0">
                <a:solidFill>
                  <a:schemeClr val="tx1"/>
                </a:solidFill>
              </a:rPr>
              <a:t>Longer PBS history; domestic price model; live OGRA feed</a:t>
            </a:r>
            <a:endParaRPr lang="en-US" sz="1400" dirty="0"/>
          </a:p>
        </p:txBody>
      </p:sp>
      <p:sp>
        <p:nvSpPr>
          <p:cNvPr id="25" name="Slide Number Placeholder 0"/>
          <p:cNvSpPr>
            <a:spLocks noGrp="1"/>
          </p:cNvSpPr>
          <p:nvPr>
            <p:ph type="sldNum" sz="quarter" idx="4294967295"/>
          </p:nvPr>
        </p:nvSpPr>
        <p:spPr>
          <a:xfrm>
            <a:off x="7772400" y="4754880"/>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bg1"/>
                </a:solidFill>
              </a:rPr>
              <a:t>Team &amp; Credits</a:t>
            </a:r>
            <a:endParaRPr lang="en-US" sz="3200" dirty="0"/>
          </a:p>
        </p:txBody>
      </p:sp>
      <p:sp>
        <p:nvSpPr>
          <p:cNvPr id="3" name="Text 1"/>
          <p:cNvSpPr txBox="1"/>
          <p:nvPr/>
        </p:nvSpPr>
        <p:spPr>
          <a:xfrm>
            <a:off x="457200" y="1097280"/>
            <a:ext cx="8229600" cy="548640"/>
          </a:xfrm>
          <a:prstGeom prst="rect">
            <a:avLst/>
          </a:prstGeom>
          <a:noFill/>
          <a:ln/>
        </p:spPr>
        <p:txBody>
          <a:bodyPr wrap="square" lIns="0" tIns="0" rIns="0" bIns="0" rtlCol="0" anchor="ctr"/>
          <a:lstStyle/>
          <a:p>
            <a:pPr indent="0" marL="0">
              <a:buNone/>
            </a:pPr>
            <a:r>
              <a:rPr lang="en-US" sz="2800" b="1" dirty="0">
                <a:solidFill>
                  <a:schemeClr val="accent4"/>
                </a:solidFill>
              </a:rPr>
              <a:t>TAILDAAM</a:t>
            </a:r>
            <a:endParaRPr lang="en-US" sz="2800" dirty="0"/>
          </a:p>
        </p:txBody>
      </p:sp>
      <p:sp>
        <p:nvSpPr>
          <p:cNvPr id="4" name="Member card 1"/>
          <p:cNvSpPr/>
          <p:nvPr/>
        </p:nvSpPr>
        <p:spPr>
          <a:xfrm>
            <a:off x="3200400" y="1828800"/>
            <a:ext cx="2743200" cy="1783080"/>
          </a:xfrm>
          <a:prstGeom prst="roundRect">
            <a:avLst>
              <a:gd name="adj" fmla="val 5128"/>
            </a:avLst>
          </a:prstGeom>
          <a:solidFill>
            <a:schemeClr val="bg1">
              <a:alpha val="12000"/>
            </a:schemeClr>
          </a:solidFill>
          <a:ln/>
        </p:spPr>
      </p:sp>
      <p:sp>
        <p:nvSpPr>
          <p:cNvPr id="5" name="Avatar 1"/>
          <p:cNvSpPr txBox="1"/>
          <p:nvPr/>
        </p:nvSpPr>
        <p:spPr>
          <a:xfrm>
            <a:off x="4251960" y="2011680"/>
            <a:ext cx="640080" cy="64008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DA</a:t>
            </a:r>
            <a:endParaRPr lang="en-US" sz="1600" dirty="0"/>
          </a:p>
        </p:txBody>
      </p:sp>
      <p:sp>
        <p:nvSpPr>
          <p:cNvPr id="6" name="Text 4"/>
          <p:cNvSpPr txBox="1"/>
          <p:nvPr/>
        </p:nvSpPr>
        <p:spPr>
          <a:xfrm>
            <a:off x="3291840" y="2788920"/>
            <a:ext cx="2560320" cy="274320"/>
          </a:xfrm>
          <a:prstGeom prst="rect">
            <a:avLst/>
          </a:prstGeom>
          <a:noFill/>
          <a:ln/>
        </p:spPr>
        <p:txBody>
          <a:bodyPr wrap="square" lIns="0" tIns="0" rIns="0" bIns="0" rtlCol="0" anchor="ctr"/>
          <a:lstStyle/>
          <a:p>
            <a:pPr algn="ctr" indent="0" marL="0">
              <a:buNone/>
            </a:pPr>
            <a:r>
              <a:rPr lang="en-US" sz="1400" b="1" dirty="0">
                <a:solidFill>
                  <a:schemeClr val="bg1"/>
                </a:solidFill>
              </a:rPr>
              <a:t>Danyal Abbas</a:t>
            </a:r>
            <a:endParaRPr lang="en-US" sz="1400" dirty="0"/>
          </a:p>
        </p:txBody>
      </p:sp>
      <p:sp>
        <p:nvSpPr>
          <p:cNvPr id="7" name="Text 5"/>
          <p:cNvSpPr txBox="1"/>
          <p:nvPr/>
        </p:nvSpPr>
        <p:spPr>
          <a:xfrm>
            <a:off x="3291840" y="3108960"/>
            <a:ext cx="2560320" cy="274320"/>
          </a:xfrm>
          <a:prstGeom prst="rect">
            <a:avLst/>
          </a:prstGeom>
          <a:noFill/>
          <a:ln/>
        </p:spPr>
        <p:txBody>
          <a:bodyPr wrap="square" lIns="0" tIns="0" rIns="0" bIns="0" rtlCol="0" anchor="ctr"/>
          <a:lstStyle/>
          <a:p>
            <a:pPr algn="ctr" indent="0" marL="0">
              <a:buNone/>
            </a:pPr>
            <a:r>
              <a:rPr lang="en-US" sz="1200" dirty="0">
                <a:solidFill>
                  <a:schemeClr val="accent4"/>
                </a:solidFill>
              </a:rPr>
              <a:t>Data, model, agent, app, deploy</a:t>
            </a:r>
            <a:endParaRPr lang="en-US" sz="1200" dirty="0"/>
          </a:p>
        </p:txBody>
      </p:sp>
      <p:sp>
        <p:nvSpPr>
          <p:cNvPr id="20" name="Text 18"/>
          <p:cNvSpPr txBox="1"/>
          <p:nvPr/>
        </p:nvSpPr>
        <p:spPr>
          <a:xfrm>
            <a:off x="457200" y="3931920"/>
            <a:ext cx="8229600" cy="274320"/>
          </a:xfrm>
          <a:prstGeom prst="rect">
            <a:avLst/>
          </a:prstGeom>
          <a:noFill/>
          <a:ln/>
        </p:spPr>
        <p:txBody>
          <a:bodyPr wrap="square" lIns="0" tIns="0" rIns="0" bIns="0" rtlCol="0" anchor="ctr"/>
          <a:lstStyle/>
          <a:p>
            <a:pPr indent="0" marL="0">
              <a:buNone/>
            </a:pPr>
            <a:r>
              <a:rPr lang="en-US" sz="1400" dirty="0">
                <a:solidFill>
                  <a:schemeClr val="bg1"/>
                </a:solidFill>
              </a:rPr>
              <a:t>Repo: github.com/DanyalAbbas/hack-insight    |    Live: danyalabbas-hack-insight.static.hf.space</a:t>
            </a:r>
            <a:endParaRPr lang="en-US" sz="1400" dirty="0"/>
          </a:p>
        </p:txBody>
      </p:sp>
      <p:sp>
        <p:nvSpPr>
          <p:cNvPr id="21" name="Text 19"/>
          <p:cNvSpPr txBox="1"/>
          <p:nvPr/>
        </p:nvSpPr>
        <p:spPr>
          <a:xfrm>
            <a:off x="457200" y="4251960"/>
            <a:ext cx="8229600" cy="365760"/>
          </a:xfrm>
          <a:prstGeom prst="rect">
            <a:avLst/>
          </a:prstGeom>
          <a:noFill/>
          <a:ln/>
        </p:spPr>
        <p:txBody>
          <a:bodyPr wrap="square" lIns="0" tIns="0" rIns="0" bIns="0" rtlCol="0" anchor="ctr"/>
          <a:lstStyle/>
          <a:p>
            <a:pPr indent="0" marL="0">
              <a:buNone/>
            </a:pPr>
            <a:r>
              <a:rPr lang="en-US" sz="2000" b="1" dirty="0">
                <a:solidFill>
                  <a:schemeClr val="accent4"/>
                </a:solidFill>
              </a:rPr>
              <a:t>Thank you!</a:t>
            </a:r>
            <a:endParaRPr lang="en-US" sz="2000" dirty="0"/>
          </a:p>
        </p:txBody>
      </p:sp>
      <p:sp>
        <p:nvSpPr>
          <p:cNvPr id="25" name="Slide Number Placeholder 0"/>
          <p:cNvSpPr>
            <a:spLocks noGrp="1"/>
          </p:cNvSpPr>
          <p:nvPr>
            <p:ph type="sldNum" sz="quarter" idx="4294967295"/>
          </p:nvPr>
        </p:nvSpPr>
        <p:spPr>
          <a:xfrm>
            <a:off x="7772400" y="4754880"/>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HackInsight">
  <a:themeElements>
    <a:clrScheme name="HackInsight">
      <a:dk1>
        <a:srgbClr val="151515"/>
      </a:dk1>
      <a:lt1>
        <a:srgbClr val="FFFFFF"/>
      </a:lt1>
      <a:dk2>
        <a:srgbClr val="0B5D2A"/>
      </a:dk2>
      <a:lt2>
        <a:srgbClr val="EAF6EE"/>
      </a:lt2>
      <a:accent1>
        <a:srgbClr val="1FA84F"/>
      </a:accent1>
      <a:accent2>
        <a:srgbClr val="0B5D2A"/>
      </a:accent2>
      <a:accent3>
        <a:srgbClr val="151515"/>
      </a:accent3>
      <a:accent4>
        <a:srgbClr val="8FD9A8"/>
      </a:accent4>
      <a:accent5>
        <a:srgbClr val="F2B632"/>
      </a:accent5>
      <a:accent6>
        <a:srgbClr val="5F6B66"/>
      </a:accent6>
      <a:hlink>
        <a:srgbClr val="1FA84F"/>
      </a:hlink>
      <a:folHlink>
        <a:srgbClr val="0B5D2A"/>
      </a:folHlink>
    </a:clrScheme>
    <a:fontScheme name="HackInsigh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Hack Insight 2026 - Team Template</dc:title>
  <dc:subject>PptxGenJS Presentation</dc:subject>
  <dc:creator>PptxGenJS</dc:creator>
  <cp:lastModifiedBy>PptxGenJS</cp:lastModifiedBy>
  <cp:revision>1</cp:revision>
  <dcterms:created xsi:type="dcterms:W3CDTF">2026-10-21T15:16:12Z</dcterms:created>
  <dcterms:modified xsi:type="dcterms:W3CDTF">2026-10-21T15:16:12Z</dcterms:modified>
</cp:coreProperties>
</file>