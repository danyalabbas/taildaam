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ck Insight 2026" id="{d27e10ab-bb75-0403-50be-a673a199689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Hack_Insight_2026_Tech_Banner__1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7124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HACK INSIGHT 2026  |  NED University of Engineering &amp;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HACK INSIGHT 2026  |  NED University of Engineering &amp;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2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Hack_Insight_2026_Tech_Banner__1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71246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TailDaam — Pakistan fuel prices, with receipts</a:t>
            </a:r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TailDaam  |  Energy demand / Data Science Hackathon 2026</a:t>
            </a:r>
          </a:p>
        </p:txBody>
      </p:sp>
      <p:pic>
        <p:nvPicPr>
          <p:cNvPr id="4" name="Picture 3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Problem Statement</a:t>
            </a:r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49377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Pakistani petrol and diesel prices are administered at fortnightly reviews, but the evidence is scattered across weekly PBS reports, city-level annexes and global benchmark feeds. Most tools repeat a headline or generate an answer without showing where it came from.</a:t>
            </a:r>
          </a:p>
        </p:txBody>
      </p:sp>
      <p:sp>
        <p:nvSpPr>
          <p:cNvPr id="6" name="Side card 1"/>
          <p:cNvSpPr/>
          <p:nvPr/>
        </p:nvSpPr>
        <p:spPr>
          <a:xfrm>
            <a:off x="5669280" y="1188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7" name="Number 1"/>
          <p:cNvSpPr txBox="1"/>
          <p:nvPr/>
        </p:nvSpPr>
        <p:spPr>
          <a:xfrm>
            <a:off x="585216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Who is affected?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Households, transport and industry, journalists, analysts and policymakers in Pakistan.</a:t>
            </a:r>
          </a:p>
        </p:txBody>
      </p:sp>
      <p:sp>
        <p:nvSpPr>
          <p:cNvPr id="10" name="Side card 2"/>
          <p:cNvSpPr/>
          <p:nvPr/>
        </p:nvSpPr>
        <p:spPr>
          <a:xfrm>
            <a:off x="5669280" y="2331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1" name="Number 2"/>
          <p:cNvSpPr txBox="1"/>
          <p:nvPr/>
        </p:nvSpPr>
        <p:spPr>
          <a:xfrm>
            <a:off x="585216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 does it matter?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862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Fuel prices affect inflation, transport cost and import-bill risk. TailDaam covers 91,672 clean rows from 62 raw files.</a:t>
            </a:r>
          </a:p>
        </p:txBody>
      </p:sp>
      <p:sp>
        <p:nvSpPr>
          <p:cNvPr id="14" name="Side card 3"/>
          <p:cNvSpPr/>
          <p:nvPr/>
        </p:nvSpPr>
        <p:spPr>
          <a:xfrm>
            <a:off x="5669280" y="3474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5" name="Number 3"/>
          <p:cNvSpPr txBox="1"/>
          <p:nvPr/>
        </p:nvSpPr>
        <p:spPr>
          <a:xfrm>
            <a:off x="585216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Our goal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Build a governed fuel-price record, a baseline-beating volatility model, and a refusal-first cited insight agent.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Dataset Declaration</a:t>
            </a:r>
          </a:p>
        </p:txBody>
      </p:sp>
      <p:graphicFrame>
        <p:nvGraphicFramePr>
          <p:cNvPr id="4" name="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530352">
                <a:tc>
                  <a:txBody>
                    <a:bodyPr/>
                    <a:lstStyle/>
                    <a:p>
                      <a:r>
                        <a:t>Dataset name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TailDaam governed fuel-price warehouse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t>Source / link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PBS, U.S. EIA, World Bank Pink Sheet; github.com/DanyalAbbas/hack-insight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t>Size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91,672 clean rows from 62 raw files; ~144 MB data directory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t>Time period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PBS weekly 2025-05 to 2026-10; city monthly Jan-Sep 2026; EIA daily; WB monthly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t>Format &amp; license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CSV/Parquet; Government open publication, public domain, CC BY 4.0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t>Key features / target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Petrol/HSD prices by week and city; model target: next-month Brent realised volatility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tat card 1"/>
          <p:cNvSpPr/>
          <p:nvPr/>
        </p:nvSpPr>
        <p:spPr>
          <a:xfrm>
            <a:off x="6217920" y="1188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6217920" y="1298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91,672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62179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Rows / records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6217920" y="2331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217920" y="2441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12+</a:t>
            </a:r>
          </a:p>
        </p:txBody>
      </p:sp>
      <p:sp>
        <p:nvSpPr>
          <p:cNvPr id="9" name="Text 6"/>
          <p:cNvSpPr txBox="1"/>
          <p:nvPr/>
        </p:nvSpPr>
        <p:spPr>
          <a:xfrm>
            <a:off x="621792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Columns / features</a:t>
            </a:r>
            <a:endParaRPr lang="en-US" sz="1200" dirty="0"/>
          </a:p>
        </p:txBody>
      </p:sp>
      <p:sp>
        <p:nvSpPr>
          <p:cNvPr id="10" name="Stat card 3"/>
          <p:cNvSpPr/>
          <p:nvPr/>
        </p:nvSpPr>
        <p:spPr>
          <a:xfrm>
            <a:off x="6217920" y="3474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217920" y="3584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144 MB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621792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Dataset size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Pipeline Used</a:t>
            </a:r>
          </a:p>
        </p:txBody>
      </p:sp>
      <p:sp>
        <p:nvSpPr>
          <p:cNvPr id="3" name="Stage card 1"/>
          <p:cNvSpPr/>
          <p:nvPr/>
        </p:nvSpPr>
        <p:spPr>
          <a:xfrm>
            <a:off x="45720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4" name="Stage number 1"/>
          <p:cNvSpPr txBox="1"/>
          <p:nvPr/>
        </p:nvSpPr>
        <p:spPr>
          <a:xfrm>
            <a:off x="98298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PBS 41 weekly + 9 city annexes, EIA 11 daily series, World Bank Pink Sheet</a:t>
            </a:r>
          </a:p>
        </p:txBody>
      </p:sp>
      <p:sp>
        <p:nvSpPr>
          <p:cNvPr id="7" name="Arrow 1"/>
          <p:cNvSpPr/>
          <p:nvPr/>
        </p:nvSpPr>
        <p:spPr>
          <a:xfrm>
            <a:off x="192024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8" name="Stage card 2"/>
          <p:cNvSpPr/>
          <p:nvPr/>
        </p:nvSpPr>
        <p:spPr>
          <a:xfrm>
            <a:off x="214884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9" name="Stage number 2"/>
          <p:cNvSpPr txBox="1"/>
          <p:nvPr/>
        </p:nvSpPr>
        <p:spPr>
          <a:xfrm>
            <a:off x="267462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Typed long tables with stable row IDs; no invented observations</a:t>
            </a:r>
          </a:p>
        </p:txBody>
      </p:sp>
      <p:sp>
        <p:nvSpPr>
          <p:cNvPr id="12" name="Arrow 2"/>
          <p:cNvSpPr/>
          <p:nvPr/>
        </p:nvSpPr>
        <p:spPr>
          <a:xfrm>
            <a:off x="361188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3" name="Stage card 3"/>
          <p:cNvSpPr/>
          <p:nvPr/>
        </p:nvSpPr>
        <p:spPr>
          <a:xfrm>
            <a:off x="384048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4" name="Stage number 3"/>
          <p:cNvSpPr txBox="1"/>
          <p:nvPr/>
        </p:nvSpPr>
        <p:spPr>
          <a:xfrm>
            <a:off x="436626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Analysis / EDA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Quality agent: 14 rules, 1 fix, 4 flags</a:t>
            </a:r>
          </a:p>
        </p:txBody>
      </p:sp>
      <p:sp>
        <p:nvSpPr>
          <p:cNvPr id="17" name="Arrow 3"/>
          <p:cNvSpPr/>
          <p:nvPr/>
        </p:nvSpPr>
        <p:spPr>
          <a:xfrm>
            <a:off x="530352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8" name="Stage card 4"/>
          <p:cNvSpPr/>
          <p:nvPr/>
        </p:nvSpPr>
        <p:spPr>
          <a:xfrm>
            <a:off x="553212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9" name="Stage number 4"/>
          <p:cNvSpPr txBox="1"/>
          <p:nvPr/>
        </p:nvSpPr>
        <p:spPr>
          <a:xfrm>
            <a:off x="605790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HAR ridge vs persistence; 7.269% lower MAE; 89.25% interval coverage</a:t>
            </a:r>
          </a:p>
        </p:txBody>
      </p:sp>
      <p:sp>
        <p:nvSpPr>
          <p:cNvPr id="22" name="Arrow 4"/>
          <p:cNvSpPr/>
          <p:nvPr/>
        </p:nvSpPr>
        <p:spPr>
          <a:xfrm>
            <a:off x="699516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3" name="Stage card 5"/>
          <p:cNvSpPr/>
          <p:nvPr/>
        </p:nvSpPr>
        <p:spPr>
          <a:xfrm>
            <a:off x="722376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4" name="Stage number 5"/>
          <p:cNvSpPr txBox="1"/>
          <p:nvPr/>
        </p:nvSpPr>
        <p:spPr>
          <a:xfrm>
            <a:off x="774954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Dashboard / App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FastAPI API + static Hugging Face Space; no login</a:t>
            </a:r>
          </a:p>
        </p:txBody>
      </p:sp>
      <p:sp>
        <p:nvSpPr>
          <p:cNvPr id="27" name="Summary bar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731520" y="3886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62 publisher files -&gt; 91,672 clean rows -&gt; cited fuel-price insights and Brent risk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Pipeline Details &amp; Tools</a:t>
            </a:r>
          </a:p>
        </p:txBody>
      </p:sp>
      <p:graphicFrame>
        <p:nvGraphicFramePr>
          <p:cNvPr id="6" name="Too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Tools / Libraries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we did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t>Collection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requests, PBS/EIA/WB endpoints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Download and SHA-256 hash 62 original publisher files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t>Preprocessing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pandas, openpyxl, clean.py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Normalise weekly, city and global tables; stable row IDs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t>Analysis / EDA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quality.py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 deterministic rules; every FIX/FLAG/FAIL logged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t>Modeling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scikit-learn, pandas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HAR ridge vs persistence; 7.269% MAE win; 89.25% coverage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t>Dashboard / App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FastAPI, Prefect, Hugging Face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API, static UI, hourly pipeline, no login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Dashboard / App Views</a:t>
            </a:r>
          </a:p>
        </p:txBody>
      </p:sp>
      <p:sp>
        <p:nvSpPr>
          <p:cNvPr id="3" name="Screenshot 1"/>
          <p:cNvSpPr/>
          <p:nvPr/>
        </p:nvSpPr>
        <p:spPr>
          <a:xfrm>
            <a:off x="457200" y="1188720"/>
            <a:ext cx="493776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45720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Page 1 - Overview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45720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6" name="Screenshot 2"/>
          <p:cNvSpPr/>
          <p:nvPr/>
        </p:nvSpPr>
        <p:spPr>
          <a:xfrm>
            <a:off x="5577840" y="1188720"/>
            <a:ext cx="3108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57784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Page 2 - Model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57784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9" name="Screenshot 3"/>
          <p:cNvSpPr/>
          <p:nvPr/>
        </p:nvSpPr>
        <p:spPr>
          <a:xfrm>
            <a:off x="5577840" y="2743200"/>
            <a:ext cx="3108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57784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Page 3 - Insight agent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55778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12" name="Text 10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Live: https://danyalabbas-hack-insight.static.hf.space | Repo: https://github.com/DanyalAbbas/hack-insight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26" name="Picture 25" descr="fronten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937760" cy="2926080"/>
          </a:xfrm>
          <a:prstGeom prst="rect">
            <a:avLst/>
          </a:prstGeom>
        </p:spPr>
      </p:pic>
      <p:pic>
        <p:nvPicPr>
          <p:cNvPr id="27" name="Picture 26" descr="frontend_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188720"/>
            <a:ext cx="3108960" cy="1371600"/>
          </a:xfrm>
          <a:prstGeom prst="rect">
            <a:avLst/>
          </a:prstGeom>
        </p:spPr>
      </p:pic>
      <p:pic>
        <p:nvPicPr>
          <p:cNvPr id="28" name="Picture 27" descr="frontend_ag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743200"/>
            <a:ext cx="310896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Conclusion</a:t>
            </a:r>
          </a:p>
        </p:txBody>
      </p:sp>
      <p:sp>
        <p:nvSpPr>
          <p:cNvPr id="3" name="Finding card 1"/>
          <p:cNvSpPr/>
          <p:nvPr/>
        </p:nvSpPr>
        <p:spPr>
          <a:xfrm>
            <a:off x="457200" y="1188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4" name="Finding number 1"/>
          <p:cNvSpPr txBox="1"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Model beats persistence by 7.269% MAE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188720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MAE 17.8044 -&gt; 16.5102; 89.25% interval coverage.</a:t>
            </a:r>
          </a:p>
        </p:txBody>
      </p:sp>
      <p:sp>
        <p:nvSpPr>
          <p:cNvPr id="7" name="Finding card 2"/>
          <p:cNvSpPr/>
          <p:nvPr/>
        </p:nvSpPr>
        <p:spPr>
          <a:xfrm>
            <a:off x="457200" y="2331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8" name="Finding number 2"/>
          <p:cNvSpPr txBox="1"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Agent refuses unsupported questions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18872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Cited answers with row IDs; weather and unsupported periods are refused.</a:t>
            </a:r>
          </a:p>
        </p:txBody>
      </p:sp>
      <p:sp>
        <p:nvSpPr>
          <p:cNvPr id="11" name="Finding card 3"/>
          <p:cNvSpPr/>
          <p:nvPr/>
        </p:nvSpPr>
        <p:spPr>
          <a:xfrm>
            <a:off x="457200" y="3474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2" name="Finding number 3"/>
          <p:cNvSpPr txBox="1"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03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Quality status WARN: 14 rules, 1 fix, 4 flags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118872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No backfilled runs; weekly gaps and the April 2026 HSD outlier are flagged.</a:t>
            </a:r>
          </a:p>
        </p:txBody>
      </p:sp>
      <p:sp>
        <p:nvSpPr>
          <p:cNvPr id="15" name="Impact card"/>
          <p:cNvSpPr/>
          <p:nvPr/>
        </p:nvSpPr>
        <p:spPr>
          <a:xfrm>
            <a:off x="5852160" y="118872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0807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IMPACT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Journalists, analysts and policymakers get traceable fuel-price evidence.</a:t>
            </a:r>
          </a:p>
        </p:txBody>
      </p:sp>
      <p:sp>
        <p:nvSpPr>
          <p:cNvPr id="18" name="Future work card"/>
          <p:cNvSpPr/>
          <p:nvPr/>
        </p:nvSpPr>
        <p:spPr>
          <a:xfrm>
            <a:off x="5852160" y="288036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08076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OGRA city prices, more monthly annexes, semantic retrieval, reliability monitoring.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Team &amp; Credits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TailDaam</a:t>
            </a:r>
          </a:p>
        </p:txBody>
      </p:sp>
      <p:sp>
        <p:nvSpPr>
          <p:cNvPr id="4" name="Member card 1"/>
          <p:cNvSpPr/>
          <p:nvPr/>
        </p:nvSpPr>
        <p:spPr>
          <a:xfrm>
            <a:off x="45720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  <p:txBody>
          <a:bodyPr/>
          <a:p/>
        </p:txBody>
      </p:sp>
      <p:sp>
        <p:nvSpPr>
          <p:cNvPr id="5" name="Avatar 1"/>
          <p:cNvSpPr txBox="1"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Danyal Abbas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Data, model, agent, pipeline, deployment</a:t>
            </a:r>
          </a:p>
        </p:txBody>
      </p:sp>
      <p:sp>
        <p:nvSpPr>
          <p:cNvPr id="8" name="Member card 2"/>
          <p:cNvSpPr/>
          <p:nvPr/>
        </p:nvSpPr>
        <p:spPr>
          <a:xfrm>
            <a:off x="256032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  <p:txBody>
          <a:bodyPr/>
          <a:p/>
        </p:txBody>
      </p:sp>
      <p:sp>
        <p:nvSpPr>
          <p:cNvPr id="9" name="Avatar 2"/>
          <p:cNvSpPr txBox="1"/>
          <p:nvPr/>
        </p:nvSpPr>
        <p:spPr>
          <a:xfrm>
            <a:off x="320040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Open contributor slot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265176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Reserved for hackathon team</a:t>
            </a:r>
          </a:p>
        </p:txBody>
      </p:sp>
      <p:sp>
        <p:nvSpPr>
          <p:cNvPr id="12" name="Member card 3"/>
          <p:cNvSpPr/>
          <p:nvPr/>
        </p:nvSpPr>
        <p:spPr>
          <a:xfrm>
            <a:off x="466344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  <p:txBody>
          <a:bodyPr/>
          <a:p/>
        </p:txBody>
      </p:sp>
      <p:sp>
        <p:nvSpPr>
          <p:cNvPr id="13" name="Avatar 3"/>
          <p:cNvSpPr txBox="1"/>
          <p:nvPr/>
        </p:nvSpPr>
        <p:spPr>
          <a:xfrm>
            <a:off x="530352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Open contributor slot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47548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Reserved for hackathon team</a:t>
            </a:r>
          </a:p>
        </p:txBody>
      </p:sp>
      <p:sp>
        <p:nvSpPr>
          <p:cNvPr id="16" name="Member card 4"/>
          <p:cNvSpPr/>
          <p:nvPr/>
        </p:nvSpPr>
        <p:spPr>
          <a:xfrm>
            <a:off x="676656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  <p:txBody>
          <a:bodyPr/>
          <a:p/>
        </p:txBody>
      </p:sp>
      <p:sp>
        <p:nvSpPr>
          <p:cNvPr id="17" name="Avatar 4"/>
          <p:cNvSpPr txBox="1"/>
          <p:nvPr/>
        </p:nvSpPr>
        <p:spPr>
          <a:xfrm>
            <a:off x="740664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Open contributor slot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685800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Reserved for hackathon team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Mentor / Supervisor: none declared  |  Contact: github.com/DanyalAbbas/hack-insight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Thank you!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Insight">
  <a:themeElements>
    <a:clrScheme name="HackInsight">
      <a:dk1>
        <a:srgbClr val="151515"/>
      </a:dk1>
      <a:lt1>
        <a:srgbClr val="FFFFFF"/>
      </a:lt1>
      <a:dk2>
        <a:srgbClr val="0B5D2A"/>
      </a:dk2>
      <a:lt2>
        <a:srgbClr val="EAF6EE"/>
      </a:lt2>
      <a:accent1>
        <a:srgbClr val="1FA84F"/>
      </a:accent1>
      <a:accent2>
        <a:srgbClr val="0B5D2A"/>
      </a:accent2>
      <a:accent3>
        <a:srgbClr val="151515"/>
      </a:accent3>
      <a:accent4>
        <a:srgbClr val="8FD9A8"/>
      </a:accent4>
      <a:accent5>
        <a:srgbClr val="F2B632"/>
      </a:accent5>
      <a:accent6>
        <a:srgbClr val="5F6B66"/>
      </a:accent6>
      <a:hlink>
        <a:srgbClr val="1FA84F"/>
      </a:hlink>
      <a:folHlink>
        <a:srgbClr val="0B5D2A"/>
      </a:folHlink>
    </a:clrScheme>
    <a:fontScheme name="HackIns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Insight 2026 - Team Template</dc:title>
  <dc:subject>PptxGenJS Presentation</dc:subject>
  <dc:creator>PptxGenJS</dc:creator>
  <cp:lastModifiedBy>PptxGenJS</cp:lastModifiedBy>
  <cp:revision>1</cp:revision>
  <dcterms:created xsi:type="dcterms:W3CDTF">2026-10-21T15:16:12Z</dcterms:created>
  <dcterms:modified xsi:type="dcterms:W3CDTF">2026-10-21T15:16:12Z</dcterms:modified>
</cp:coreProperties>
</file>